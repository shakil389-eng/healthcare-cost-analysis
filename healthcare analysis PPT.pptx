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A756AD0-3D84-C01B-B0AE-9FBA28BF2210}">
          <p14:sldIdLst>
            <p14:sldId id="256"/>
          </p14:sldIdLst>
        </p14:section>
        <p14:section name="Analysis" id="{087955D1-A3A4-FD6D-8EE7-CEB1EF1500AD}">
          <p14:sldIdLst>
            <p14:sldId id="257"/>
            <p14:sldId id="258"/>
            <p14:sldId id="259"/>
            <p14:sldId id="260"/>
            <p14:sldId id="261"/>
            <p14:sldId id="262"/>
            <p14:sldId id="263"/>
            <p14:sldId id="264"/>
            <p14:sldId id="265"/>
            <p14:sldId id="266"/>
            <p14:sldId id="267"/>
          </p14:sldIdLst>
        </p14:section>
        <p14:section name="Close" id="{0D549025-16BC-64B0-BAC5-DC0CF731E90A}">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Admissions by medical condition</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Admissions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Hypertension</c:v>
                </c:pt>
                <c:pt idx="1">
                  <c:v>Cancer</c:v>
                </c:pt>
                <c:pt idx="2">
                  <c:v>Obesity</c:v>
                </c:pt>
                <c:pt idx="3">
                  <c:v>Arthritis</c:v>
                </c:pt>
                <c:pt idx="4">
                  <c:v>Asthma</c:v>
                </c:pt>
                <c:pt idx="5">
                  <c:v>Diabetes</c:v>
                </c:pt>
              </c:strCache>
            </c:strRef>
          </c:cat>
          <c:val>
            <c:numRef>
              <c:f>Sheet1!$B$2:$B$7</c:f>
              <c:numCache>
                <c:formatCode>General</c:formatCode>
                <c:ptCount val="6"/>
                <c:pt idx="0">
                  <c:v>2155</c:v>
                </c:pt>
                <c:pt idx="1">
                  <c:v>1647</c:v>
                </c:pt>
                <c:pt idx="2">
                  <c:v>1627</c:v>
                </c:pt>
                <c:pt idx="3">
                  <c:v>1587</c:v>
                </c:pt>
                <c:pt idx="4">
                  <c:v>1550</c:v>
                </c:pt>
                <c:pt idx="5">
                  <c:v>1434</c:v>
                </c:pt>
              </c:numCache>
            </c:numRef>
          </c:val>
          <c:extLst>
            <c:ext xmlns:c16="http://schemas.microsoft.com/office/drawing/2014/chart" uri="{C3380CC4-5D6E-409C-BE32-E72D297353CC}">
              <c16:uniqueId val="{00000000-C356-4DA9-A819-040AC0346568}"/>
            </c:ext>
          </c:extLst>
        </c:ser>
        <c:dLbls>
          <c:showLegendKey val="0"/>
          <c:showVal val="1"/>
          <c:showCatName val="0"/>
          <c:showSerName val="0"/>
          <c:showPercent val="0"/>
          <c:showBubbleSize val="0"/>
        </c:dLbls>
        <c:gapWidth val="115"/>
        <c:overlap val="-20"/>
        <c:axId val="2094734554"/>
        <c:axId val="2094734552"/>
      </c:barChart>
      <c:catAx>
        <c:axId val="2094734554"/>
        <c:scaling>
          <c:orientation val="maxMin"/>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 of each age group's admissions</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Young (18-34)</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Arthritis</c:v>
                </c:pt>
                <c:pt idx="1">
                  <c:v>Asthma</c:v>
                </c:pt>
                <c:pt idx="2">
                  <c:v>Cancer</c:v>
                </c:pt>
                <c:pt idx="3">
                  <c:v>Diabetes</c:v>
                </c:pt>
                <c:pt idx="4">
                  <c:v>Hypertension</c:v>
                </c:pt>
                <c:pt idx="5">
                  <c:v>Obesity</c:v>
                </c:pt>
              </c:strCache>
            </c:strRef>
          </c:cat>
          <c:val>
            <c:numRef>
              <c:f>Sheet1!$B$2:$B$7</c:f>
              <c:numCache>
                <c:formatCode>General</c:formatCode>
                <c:ptCount val="6"/>
                <c:pt idx="0">
                  <c:v>10.7</c:v>
                </c:pt>
                <c:pt idx="1">
                  <c:v>26.7</c:v>
                </c:pt>
                <c:pt idx="2">
                  <c:v>12.8</c:v>
                </c:pt>
                <c:pt idx="3">
                  <c:v>13.5</c:v>
                </c:pt>
                <c:pt idx="4">
                  <c:v>20.100000000000001</c:v>
                </c:pt>
                <c:pt idx="5">
                  <c:v>16.2</c:v>
                </c:pt>
              </c:numCache>
            </c:numRef>
          </c:val>
          <c:extLst>
            <c:ext xmlns:c16="http://schemas.microsoft.com/office/drawing/2014/chart" uri="{C3380CC4-5D6E-409C-BE32-E72D297353CC}">
              <c16:uniqueId val="{00000000-8F60-47C8-A0A0-607B1CC696A6}"/>
            </c:ext>
          </c:extLst>
        </c:ser>
        <c:ser>
          <c:idx val="1"/>
          <c:order val="1"/>
          <c:tx>
            <c:strRef>
              <c:f>Sheet1!$C$1</c:f>
              <c:strCache>
                <c:ptCount val="1"/>
                <c:pt idx="0">
                  <c:v>Middle (35-59)</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Arthritis</c:v>
                </c:pt>
                <c:pt idx="1">
                  <c:v>Asthma</c:v>
                </c:pt>
                <c:pt idx="2">
                  <c:v>Cancer</c:v>
                </c:pt>
                <c:pt idx="3">
                  <c:v>Diabetes</c:v>
                </c:pt>
                <c:pt idx="4">
                  <c:v>Hypertension</c:v>
                </c:pt>
                <c:pt idx="5">
                  <c:v>Obesity</c:v>
                </c:pt>
              </c:strCache>
            </c:strRef>
          </c:cat>
          <c:val>
            <c:numRef>
              <c:f>Sheet1!$C$2:$C$7</c:f>
              <c:numCache>
                <c:formatCode>General</c:formatCode>
                <c:ptCount val="6"/>
                <c:pt idx="0">
                  <c:v>15.3</c:v>
                </c:pt>
                <c:pt idx="1">
                  <c:v>11.6</c:v>
                </c:pt>
                <c:pt idx="2">
                  <c:v>16.600000000000001</c:v>
                </c:pt>
                <c:pt idx="3">
                  <c:v>14.7</c:v>
                </c:pt>
                <c:pt idx="4">
                  <c:v>22.9</c:v>
                </c:pt>
                <c:pt idx="5">
                  <c:v>18.899999999999999</c:v>
                </c:pt>
              </c:numCache>
            </c:numRef>
          </c:val>
          <c:extLst>
            <c:ext xmlns:c16="http://schemas.microsoft.com/office/drawing/2014/chart" uri="{C3380CC4-5D6E-409C-BE32-E72D297353CC}">
              <c16:uniqueId val="{00000001-8F60-47C8-A0A0-607B1CC696A6}"/>
            </c:ext>
          </c:extLst>
        </c:ser>
        <c:ser>
          <c:idx val="2"/>
          <c:order val="2"/>
          <c:tx>
            <c:strRef>
              <c:f>Sheet1!$D$1</c:f>
              <c:strCache>
                <c:ptCount val="1"/>
                <c:pt idx="0">
                  <c:v>Senior (60+)</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Arthritis</c:v>
                </c:pt>
                <c:pt idx="1">
                  <c:v>Asthma</c:v>
                </c:pt>
                <c:pt idx="2">
                  <c:v>Cancer</c:v>
                </c:pt>
                <c:pt idx="3">
                  <c:v>Diabetes</c:v>
                </c:pt>
                <c:pt idx="4">
                  <c:v>Hypertension</c:v>
                </c:pt>
                <c:pt idx="5">
                  <c:v>Obesity</c:v>
                </c:pt>
              </c:strCache>
            </c:strRef>
          </c:cat>
          <c:val>
            <c:numRef>
              <c:f>Sheet1!$D$2:$D$7</c:f>
              <c:numCache>
                <c:formatCode>General</c:formatCode>
                <c:ptCount val="6"/>
                <c:pt idx="0">
                  <c:v>19.8</c:v>
                </c:pt>
                <c:pt idx="1">
                  <c:v>12</c:v>
                </c:pt>
                <c:pt idx="2">
                  <c:v>18.8</c:v>
                </c:pt>
                <c:pt idx="3">
                  <c:v>14.5</c:v>
                </c:pt>
                <c:pt idx="4">
                  <c:v>21.2</c:v>
                </c:pt>
                <c:pt idx="5">
                  <c:v>13.7</c:v>
                </c:pt>
              </c:numCache>
            </c:numRef>
          </c:val>
          <c:extLst>
            <c:ext xmlns:c16="http://schemas.microsoft.com/office/drawing/2014/chart" uri="{C3380CC4-5D6E-409C-BE32-E72D297353CC}">
              <c16:uniqueId val="{00000002-8F60-47C8-A0A0-607B1CC696A6}"/>
            </c:ext>
          </c:extLst>
        </c:ser>
        <c:dLbls>
          <c:showLegendKey val="0"/>
          <c:showVal val="1"/>
          <c:showCatName val="0"/>
          <c:showSerName val="0"/>
          <c:showPercent val="0"/>
          <c:showBubbleSize val="0"/>
        </c:dLbls>
        <c:gapWidth val="100"/>
        <c:overlap val="-24"/>
        <c:axId val="2094734554"/>
        <c:axId val="2094734552"/>
      </c:barChart>
      <c:catAx>
        <c:axId val="2094734554"/>
        <c:scaling>
          <c:orientation val="minMax"/>
        </c:scaling>
        <c:delete val="0"/>
        <c:axPos val="b"/>
        <c:numFmt formatCode="General" sourceLinked="1"/>
        <c:majorTickMark val="none"/>
        <c:minorTickMark val="none"/>
        <c:tickLblPos val="low"/>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3"/>
                </a:solidFill>
                <a:latin typeface="+mn-lt"/>
              </a:defRPr>
            </a:pPr>
            <a:r>
              <a:rPr lang="en-US" sz="1200" b="0" i="0" u="none" strike="noStrike">
                <a:solidFill>
                  <a:srgbClr val="1F2933"/>
                </a:solidFill>
                <a:latin typeface="+mn-lt"/>
              </a:rPr>
              <a:t>% of each condition's admissions by admission type</a:t>
            </a:r>
          </a:p>
        </c:rich>
      </c:tx>
      <c:overlay val="0"/>
    </c:title>
    <c:autoTitleDeleted val="0"/>
    <c:plotArea>
      <c:layout/>
      <c:barChart>
        <c:barDir val="bar"/>
        <c:grouping val="percentStacked"/>
        <c:varyColors val="0"/>
        <c:ser>
          <c:idx val="0"/>
          <c:order val="0"/>
          <c:tx>
            <c:strRef>
              <c:f>Sheet1!$B$1</c:f>
              <c:strCache>
                <c:ptCount val="1"/>
                <c:pt idx="0">
                  <c:v>Elective</c:v>
                </c:pt>
              </c:strCache>
            </c:strRef>
          </c:tx>
          <c:spPr>
            <a:solidFill>
              <a:srgbClr val="1B7F8C"/>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Arthritis</c:v>
                </c:pt>
                <c:pt idx="1">
                  <c:v>Obesity</c:v>
                </c:pt>
                <c:pt idx="2">
                  <c:v>Cancer</c:v>
                </c:pt>
                <c:pt idx="3">
                  <c:v>Asthma</c:v>
                </c:pt>
                <c:pt idx="4">
                  <c:v>Hypertension</c:v>
                </c:pt>
                <c:pt idx="5">
                  <c:v>Diabetes</c:v>
                </c:pt>
              </c:strCache>
            </c:strRef>
          </c:cat>
          <c:val>
            <c:numRef>
              <c:f>Sheet1!$B$2:$B$7</c:f>
              <c:numCache>
                <c:formatCode>General</c:formatCode>
                <c:ptCount val="6"/>
                <c:pt idx="0">
                  <c:v>54.6</c:v>
                </c:pt>
                <c:pt idx="1">
                  <c:v>56.9</c:v>
                </c:pt>
                <c:pt idx="2">
                  <c:v>41.8</c:v>
                </c:pt>
                <c:pt idx="3">
                  <c:v>13.7</c:v>
                </c:pt>
                <c:pt idx="4">
                  <c:v>11.9</c:v>
                </c:pt>
                <c:pt idx="5">
                  <c:v>8.8000000000000007</c:v>
                </c:pt>
              </c:numCache>
            </c:numRef>
          </c:val>
          <c:extLst>
            <c:ext xmlns:c16="http://schemas.microsoft.com/office/drawing/2014/chart" uri="{C3380CC4-5D6E-409C-BE32-E72D297353CC}">
              <c16:uniqueId val="{00000000-48FC-4DDF-84C1-17E0D7F89A82}"/>
            </c:ext>
          </c:extLst>
        </c:ser>
        <c:ser>
          <c:idx val="1"/>
          <c:order val="1"/>
          <c:tx>
            <c:strRef>
              <c:f>Sheet1!$C$1</c:f>
              <c:strCache>
                <c:ptCount val="1"/>
                <c:pt idx="0">
                  <c:v>Urgent</c:v>
                </c:pt>
              </c:strCache>
            </c:strRef>
          </c:tx>
          <c:spPr>
            <a:solidFill>
              <a:srgbClr val="F2B134"/>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Arthritis</c:v>
                </c:pt>
                <c:pt idx="1">
                  <c:v>Obesity</c:v>
                </c:pt>
                <c:pt idx="2">
                  <c:v>Cancer</c:v>
                </c:pt>
                <c:pt idx="3">
                  <c:v>Asthma</c:v>
                </c:pt>
                <c:pt idx="4">
                  <c:v>Hypertension</c:v>
                </c:pt>
                <c:pt idx="5">
                  <c:v>Diabetes</c:v>
                </c:pt>
              </c:strCache>
            </c:strRef>
          </c:cat>
          <c:val>
            <c:numRef>
              <c:f>Sheet1!$C$2:$C$7</c:f>
              <c:numCache>
                <c:formatCode>General</c:formatCode>
                <c:ptCount val="6"/>
                <c:pt idx="0">
                  <c:v>26.7</c:v>
                </c:pt>
                <c:pt idx="1">
                  <c:v>20</c:v>
                </c:pt>
                <c:pt idx="2">
                  <c:v>12.6</c:v>
                </c:pt>
                <c:pt idx="3">
                  <c:v>52.9</c:v>
                </c:pt>
                <c:pt idx="4">
                  <c:v>42</c:v>
                </c:pt>
                <c:pt idx="5">
                  <c:v>45.7</c:v>
                </c:pt>
              </c:numCache>
            </c:numRef>
          </c:val>
          <c:extLst>
            <c:ext xmlns:c16="http://schemas.microsoft.com/office/drawing/2014/chart" uri="{C3380CC4-5D6E-409C-BE32-E72D297353CC}">
              <c16:uniqueId val="{00000001-48FC-4DDF-84C1-17E0D7F89A82}"/>
            </c:ext>
          </c:extLst>
        </c:ser>
        <c:ser>
          <c:idx val="2"/>
          <c:order val="2"/>
          <c:tx>
            <c:strRef>
              <c:f>Sheet1!$D$1</c:f>
              <c:strCache>
                <c:ptCount val="1"/>
                <c:pt idx="0">
                  <c:v>Emergency</c:v>
                </c:pt>
              </c:strCache>
            </c:strRef>
          </c:tx>
          <c:spPr>
            <a:solidFill>
              <a:srgbClr val="E4572E"/>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Arthritis</c:v>
                </c:pt>
                <c:pt idx="1">
                  <c:v>Obesity</c:v>
                </c:pt>
                <c:pt idx="2">
                  <c:v>Cancer</c:v>
                </c:pt>
                <c:pt idx="3">
                  <c:v>Asthma</c:v>
                </c:pt>
                <c:pt idx="4">
                  <c:v>Hypertension</c:v>
                </c:pt>
                <c:pt idx="5">
                  <c:v>Diabetes</c:v>
                </c:pt>
              </c:strCache>
            </c:strRef>
          </c:cat>
          <c:val>
            <c:numRef>
              <c:f>Sheet1!$D$2:$D$7</c:f>
              <c:numCache>
                <c:formatCode>General</c:formatCode>
                <c:ptCount val="6"/>
                <c:pt idx="0">
                  <c:v>18.7</c:v>
                </c:pt>
                <c:pt idx="1">
                  <c:v>23.2</c:v>
                </c:pt>
                <c:pt idx="2">
                  <c:v>45.5</c:v>
                </c:pt>
                <c:pt idx="3">
                  <c:v>33.4</c:v>
                </c:pt>
                <c:pt idx="4">
                  <c:v>46.1</c:v>
                </c:pt>
                <c:pt idx="5">
                  <c:v>45.5</c:v>
                </c:pt>
              </c:numCache>
            </c:numRef>
          </c:val>
          <c:extLst>
            <c:ext xmlns:c16="http://schemas.microsoft.com/office/drawing/2014/chart" uri="{C3380CC4-5D6E-409C-BE32-E72D297353CC}">
              <c16:uniqueId val="{00000002-48FC-4DDF-84C1-17E0D7F89A82}"/>
            </c:ext>
          </c:extLst>
        </c:ser>
        <c:dLbls>
          <c:dLblPos val="ctr"/>
          <c:showLegendKey val="0"/>
          <c:showVal val="1"/>
          <c:showCatName val="0"/>
          <c:showSerName val="0"/>
          <c:showPercent val="0"/>
          <c:showBubbleSize val="0"/>
        </c:dLbls>
        <c:gapWidth val="3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majorGridlines>
          <c:spPr>
            <a:ln w="9525" cap="flat">
              <a:solidFill>
                <a:srgbClr val="E3E8EB"/>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Average billing per admission</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Avg billing</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0"/>
            <c:invertIfNegative val="0"/>
            <c:bubble3D val="0"/>
            <c:extLst>
              <c:ext xmlns:c16="http://schemas.microsoft.com/office/drawing/2014/chart" uri="{C3380CC4-5D6E-409C-BE32-E72D297353CC}">
                <c16:uniqueId val="{00000001-1D5F-42F7-B097-74736CB54415}"/>
              </c:ext>
            </c:extLst>
          </c:dPt>
          <c:dPt>
            <c:idx val="1"/>
            <c:invertIfNegative val="0"/>
            <c:bubble3D val="0"/>
            <c:extLst>
              <c:ext xmlns:c16="http://schemas.microsoft.com/office/drawing/2014/chart" uri="{C3380CC4-5D6E-409C-BE32-E72D297353CC}">
                <c16:uniqueId val="{00000003-1D5F-42F7-B097-74736CB54415}"/>
              </c:ext>
            </c:extLst>
          </c:dPt>
          <c:dPt>
            <c:idx val="2"/>
            <c:invertIfNegative val="0"/>
            <c:bubble3D val="0"/>
            <c:extLst>
              <c:ext xmlns:c16="http://schemas.microsoft.com/office/drawing/2014/chart" uri="{C3380CC4-5D6E-409C-BE32-E72D297353CC}">
                <c16:uniqueId val="{00000005-1D5F-42F7-B097-74736CB54415}"/>
              </c:ext>
            </c:extLst>
          </c:dPt>
          <c:dPt>
            <c:idx val="3"/>
            <c:invertIfNegative val="0"/>
            <c:bubble3D val="0"/>
            <c:extLst>
              <c:ext xmlns:c16="http://schemas.microsoft.com/office/drawing/2014/chart" uri="{C3380CC4-5D6E-409C-BE32-E72D297353CC}">
                <c16:uniqueId val="{00000007-1D5F-42F7-B097-74736CB54415}"/>
              </c:ext>
            </c:extLst>
          </c:dPt>
          <c:dPt>
            <c:idx val="4"/>
            <c:invertIfNegative val="0"/>
            <c:bubble3D val="0"/>
            <c:extLst>
              <c:ext xmlns:c16="http://schemas.microsoft.com/office/drawing/2014/chart" uri="{C3380CC4-5D6E-409C-BE32-E72D297353CC}">
                <c16:uniqueId val="{00000009-1D5F-42F7-B097-74736CB54415}"/>
              </c:ext>
            </c:extLst>
          </c:dPt>
          <c:dPt>
            <c:idx val="5"/>
            <c:invertIfNegative val="0"/>
            <c:bubble3D val="0"/>
            <c:extLst>
              <c:ext xmlns:c16="http://schemas.microsoft.com/office/drawing/2014/chart" uri="{C3380CC4-5D6E-409C-BE32-E72D297353CC}">
                <c16:uniqueId val="{0000000B-1D5F-42F7-B097-74736CB54415}"/>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Cancer</c:v>
                </c:pt>
                <c:pt idx="1">
                  <c:v>Diabetes</c:v>
                </c:pt>
                <c:pt idx="2">
                  <c:v>Asthma</c:v>
                </c:pt>
                <c:pt idx="3">
                  <c:v>Arthritis</c:v>
                </c:pt>
                <c:pt idx="4">
                  <c:v>Hypertension</c:v>
                </c:pt>
                <c:pt idx="5">
                  <c:v>Obesity</c:v>
                </c:pt>
              </c:strCache>
            </c:strRef>
          </c:cat>
          <c:val>
            <c:numRef>
              <c:f>Sheet1!$B$2:$B$7</c:f>
              <c:numCache>
                <c:formatCode>General</c:formatCode>
                <c:ptCount val="6"/>
                <c:pt idx="0">
                  <c:v>39676.54</c:v>
                </c:pt>
                <c:pt idx="1">
                  <c:v>30070.07</c:v>
                </c:pt>
                <c:pt idx="2">
                  <c:v>22644.61</c:v>
                </c:pt>
                <c:pt idx="3">
                  <c:v>20055.060000000001</c:v>
                </c:pt>
                <c:pt idx="4">
                  <c:v>17643.29</c:v>
                </c:pt>
                <c:pt idx="5">
                  <c:v>12535.69</c:v>
                </c:pt>
              </c:numCache>
            </c:numRef>
          </c:val>
          <c:extLst>
            <c:ext xmlns:c16="http://schemas.microsoft.com/office/drawing/2014/chart" uri="{C3380CC4-5D6E-409C-BE32-E72D297353CC}">
              <c16:uniqueId val="{0000000C-1D5F-42F7-B097-74736CB54415}"/>
            </c:ext>
          </c:extLst>
        </c:ser>
        <c:dLbls>
          <c:showLegendKey val="0"/>
          <c:showVal val="1"/>
          <c:showCatName val="0"/>
          <c:showSerName val="0"/>
          <c:showPercent val="0"/>
          <c:showBubbleSize val="0"/>
        </c:dLbls>
        <c:gapWidth val="100"/>
        <c:overlap val="-24"/>
        <c:axId val="2094734554"/>
        <c:axId val="2094734552"/>
      </c:barChart>
      <c:catAx>
        <c:axId val="2094734554"/>
        <c:scaling>
          <c:orientation val="minMax"/>
        </c:scaling>
        <c:delete val="0"/>
        <c:axPos val="b"/>
        <c:numFmt formatCode="General" sourceLinked="1"/>
        <c:majorTickMark val="none"/>
        <c:minorTickMark val="none"/>
        <c:tickLblPos val="low"/>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Average billing per admission</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Avg billing</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0"/>
            <c:invertIfNegative val="0"/>
            <c:bubble3D val="0"/>
            <c:extLst>
              <c:ext xmlns:c16="http://schemas.microsoft.com/office/drawing/2014/chart" uri="{C3380CC4-5D6E-409C-BE32-E72D297353CC}">
                <c16:uniqueId val="{00000001-7E0F-4210-8841-868A49A7D8A8}"/>
              </c:ext>
            </c:extLst>
          </c:dPt>
          <c:dPt>
            <c:idx val="1"/>
            <c:invertIfNegative val="0"/>
            <c:bubble3D val="0"/>
            <c:extLst>
              <c:ext xmlns:c16="http://schemas.microsoft.com/office/drawing/2014/chart" uri="{C3380CC4-5D6E-409C-BE32-E72D297353CC}">
                <c16:uniqueId val="{00000003-7E0F-4210-8841-868A49A7D8A8}"/>
              </c:ext>
            </c:extLst>
          </c:dPt>
          <c:dPt>
            <c:idx val="2"/>
            <c:invertIfNegative val="0"/>
            <c:bubble3D val="0"/>
            <c:extLst>
              <c:ext xmlns:c16="http://schemas.microsoft.com/office/drawing/2014/chart" uri="{C3380CC4-5D6E-409C-BE32-E72D297353CC}">
                <c16:uniqueId val="{00000005-7E0F-4210-8841-868A49A7D8A8}"/>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Elective</c:v>
                </c:pt>
                <c:pt idx="1">
                  <c:v>Urgent</c:v>
                </c:pt>
                <c:pt idx="2">
                  <c:v>Emergency</c:v>
                </c:pt>
              </c:strCache>
            </c:strRef>
          </c:cat>
          <c:val>
            <c:numRef>
              <c:f>Sheet1!$B$2:$B$4</c:f>
              <c:numCache>
                <c:formatCode>General</c:formatCode>
                <c:ptCount val="3"/>
                <c:pt idx="0">
                  <c:v>23038.95</c:v>
                </c:pt>
                <c:pt idx="1">
                  <c:v>22731.21</c:v>
                </c:pt>
                <c:pt idx="2">
                  <c:v>24279.06</c:v>
                </c:pt>
              </c:numCache>
            </c:numRef>
          </c:val>
          <c:extLst>
            <c:ext xmlns:c16="http://schemas.microsoft.com/office/drawing/2014/chart" uri="{C3380CC4-5D6E-409C-BE32-E72D297353CC}">
              <c16:uniqueId val="{00000006-7E0F-4210-8841-868A49A7D8A8}"/>
            </c:ext>
          </c:extLst>
        </c:ser>
        <c:dLbls>
          <c:showLegendKey val="0"/>
          <c:showVal val="1"/>
          <c:showCatName val="0"/>
          <c:showSerName val="0"/>
          <c:showPercent val="0"/>
          <c:showBubbleSize val="0"/>
        </c:dLbls>
        <c:gapWidth val="100"/>
        <c:overlap val="-24"/>
        <c:axId val="2094734554"/>
        <c:axId val="2094734552"/>
      </c:barChart>
      <c:catAx>
        <c:axId val="2094734554"/>
        <c:scaling>
          <c:orientation val="minMax"/>
        </c:scaling>
        <c:delete val="0"/>
        <c:axPos val="b"/>
        <c:numFmt formatCode="General" sourceLinked="1"/>
        <c:majorTickMark val="none"/>
        <c:minorTickMark val="none"/>
        <c:tickLblPos val="low"/>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Average length of stay (days)</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Avg stay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0"/>
            <c:invertIfNegative val="0"/>
            <c:bubble3D val="0"/>
            <c:extLst>
              <c:ext xmlns:c16="http://schemas.microsoft.com/office/drawing/2014/chart" uri="{C3380CC4-5D6E-409C-BE32-E72D297353CC}">
                <c16:uniqueId val="{00000001-3FF3-4BF4-8509-F9F4DACEB5D1}"/>
              </c:ext>
            </c:extLst>
          </c:dPt>
          <c:dPt>
            <c:idx val="1"/>
            <c:invertIfNegative val="0"/>
            <c:bubble3D val="0"/>
            <c:extLst>
              <c:ext xmlns:c16="http://schemas.microsoft.com/office/drawing/2014/chart" uri="{C3380CC4-5D6E-409C-BE32-E72D297353CC}">
                <c16:uniqueId val="{00000003-3FF3-4BF4-8509-F9F4DACEB5D1}"/>
              </c:ext>
            </c:extLst>
          </c:dPt>
          <c:dPt>
            <c:idx val="2"/>
            <c:invertIfNegative val="0"/>
            <c:bubble3D val="0"/>
            <c:extLst>
              <c:ext xmlns:c16="http://schemas.microsoft.com/office/drawing/2014/chart" uri="{C3380CC4-5D6E-409C-BE32-E72D297353CC}">
                <c16:uniqueId val="{00000005-3FF3-4BF4-8509-F9F4DACEB5D1}"/>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Elective</c:v>
                </c:pt>
                <c:pt idx="1">
                  <c:v>Urgent</c:v>
                </c:pt>
                <c:pt idx="2">
                  <c:v>Emergency</c:v>
                </c:pt>
              </c:strCache>
            </c:strRef>
          </c:cat>
          <c:val>
            <c:numRef>
              <c:f>Sheet1!$B$2:$B$4</c:f>
              <c:numCache>
                <c:formatCode>General</c:formatCode>
                <c:ptCount val="3"/>
                <c:pt idx="0">
                  <c:v>9.9700000000000006</c:v>
                </c:pt>
                <c:pt idx="1">
                  <c:v>15.42</c:v>
                </c:pt>
                <c:pt idx="2">
                  <c:v>15.62</c:v>
                </c:pt>
              </c:numCache>
            </c:numRef>
          </c:val>
          <c:extLst>
            <c:ext xmlns:c16="http://schemas.microsoft.com/office/drawing/2014/chart" uri="{C3380CC4-5D6E-409C-BE32-E72D297353CC}">
              <c16:uniqueId val="{00000006-3FF3-4BF4-8509-F9F4DACEB5D1}"/>
            </c:ext>
          </c:extLst>
        </c:ser>
        <c:dLbls>
          <c:showLegendKey val="0"/>
          <c:showVal val="1"/>
          <c:showCatName val="0"/>
          <c:showSerName val="0"/>
          <c:showPercent val="0"/>
          <c:showBubbleSize val="0"/>
        </c:dLbls>
        <c:gapWidth val="100"/>
        <c:overlap val="-24"/>
        <c:axId val="2094734554"/>
        <c:axId val="2094734552"/>
      </c:barChart>
      <c:catAx>
        <c:axId val="2094734554"/>
        <c:scaling>
          <c:orientation val="minMax"/>
        </c:scaling>
        <c:delete val="0"/>
        <c:axPos val="b"/>
        <c:numFmt formatCode="General" sourceLinked="1"/>
        <c:majorTickMark val="none"/>
        <c:minorTickMark val="none"/>
        <c:tickLblPos val="low"/>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Average billing per admission by insurance provider</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Avg billing</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Cigna</c:v>
                </c:pt>
                <c:pt idx="1">
                  <c:v>Aetna</c:v>
                </c:pt>
                <c:pt idx="2">
                  <c:v>Medicare</c:v>
                </c:pt>
                <c:pt idx="3">
                  <c:v>Unitedhealthcare</c:v>
                </c:pt>
                <c:pt idx="4">
                  <c:v>Blue Cross</c:v>
                </c:pt>
              </c:strCache>
            </c:strRef>
          </c:cat>
          <c:val>
            <c:numRef>
              <c:f>Sheet1!$B$2:$B$6</c:f>
              <c:numCache>
                <c:formatCode>General</c:formatCode>
                <c:ptCount val="5"/>
                <c:pt idx="0">
                  <c:v>24225.83</c:v>
                </c:pt>
                <c:pt idx="1">
                  <c:v>24131.55</c:v>
                </c:pt>
                <c:pt idx="2">
                  <c:v>22942.94</c:v>
                </c:pt>
                <c:pt idx="3">
                  <c:v>22905.37</c:v>
                </c:pt>
                <c:pt idx="4">
                  <c:v>22772.23</c:v>
                </c:pt>
              </c:numCache>
            </c:numRef>
          </c:val>
          <c:extLst>
            <c:ext xmlns:c16="http://schemas.microsoft.com/office/drawing/2014/chart" uri="{C3380CC4-5D6E-409C-BE32-E72D297353CC}">
              <c16:uniqueId val="{00000000-1AF0-4F3E-9B31-E45DC9021FA2}"/>
            </c:ext>
          </c:extLst>
        </c:ser>
        <c:dLbls>
          <c:showLegendKey val="0"/>
          <c:showVal val="1"/>
          <c:showCatName val="0"/>
          <c:showSerName val="0"/>
          <c:showPercent val="0"/>
          <c:showBubbleSize val="0"/>
        </c:dLbls>
        <c:gapWidth val="100"/>
        <c:overlap val="-24"/>
        <c:axId val="2094734554"/>
        <c:axId val="2094734552"/>
      </c:barChart>
      <c:catAx>
        <c:axId val="2094734554"/>
        <c:scaling>
          <c:orientation val="minMax"/>
        </c:scaling>
        <c:delete val="0"/>
        <c:axPos val="b"/>
        <c:numFmt formatCode="General" sourceLinked="1"/>
        <c:majorTickMark val="none"/>
        <c:minorTickMark val="none"/>
        <c:tickLblPos val="low"/>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Average billing by age group</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Avg billing</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Young (18-34)</c:v>
                </c:pt>
                <c:pt idx="1">
                  <c:v>Middle (35-59)</c:v>
                </c:pt>
                <c:pt idx="2">
                  <c:v>Senior (60+)</c:v>
                </c:pt>
              </c:strCache>
            </c:strRef>
          </c:cat>
          <c:val>
            <c:numRef>
              <c:f>Sheet1!$B$2:$B$4</c:f>
              <c:numCache>
                <c:formatCode>General</c:formatCode>
                <c:ptCount val="3"/>
                <c:pt idx="0">
                  <c:v>23189.45</c:v>
                </c:pt>
                <c:pt idx="1">
                  <c:v>23224.34</c:v>
                </c:pt>
                <c:pt idx="2">
                  <c:v>23658.240000000002</c:v>
                </c:pt>
              </c:numCache>
            </c:numRef>
          </c:val>
          <c:extLst>
            <c:ext xmlns:c16="http://schemas.microsoft.com/office/drawing/2014/chart" uri="{C3380CC4-5D6E-409C-BE32-E72D297353CC}">
              <c16:uniqueId val="{00000000-E63D-49F4-BE26-073D57E81D29}"/>
            </c:ext>
          </c:extLst>
        </c:ser>
        <c:dLbls>
          <c:showLegendKey val="0"/>
          <c:showVal val="1"/>
          <c:showCatName val="0"/>
          <c:showSerName val="0"/>
          <c:showPercent val="0"/>
          <c:showBubbleSize val="0"/>
        </c:dLbls>
        <c:gapWidth val="115"/>
        <c:overlap val="-20"/>
        <c:axId val="2094734554"/>
        <c:axId val="2094734552"/>
      </c:barChart>
      <c:catAx>
        <c:axId val="2094734554"/>
        <c:scaling>
          <c:orientation val="maxMin"/>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30000"/>
          <c:min val="0"/>
        </c:scaling>
        <c:delete val="0"/>
        <c:axPos val="t"/>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881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analyses 10,000 hospital admissions to answer one question: what actually explains differences in billing and hospital resource use - who the patient is, how they are admitted, or what condition they have? I will finish with recommendations for patients choosing insurers and for hospital planners.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first. Average bill is about $23.4K and average stay about 14 days. Three messages: condition is the strongest cost driver; admission type drives length of stay; patient age and gender add almost nothing to billing. Insurance provider matters a little overall but more for specific conditions.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number I checked the cleaned sheet. No missing values and no duplicate rows. But the workbook converts the typo "8I" to 1 instead of 81 - the data dictionary even says 8I becomes 81. 158 patients show age 1. I corrected them to 81 in this analysis, which moves them from the young to the senior group. Also note stray spaces in blood type and in the billing column header, 102 same-day stays, and that 2018 and 2023 are partial years.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who we are looking at. Hypertension is 22% of admissions, followed by cancer, obesity, arthritis and asthma, with diabetes smallest. The gender split is almost exactly 50/50, and about 75% of patients are 35 or older.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mix shifts clearly with age. Asthma is 27% of young patients vs about 12% of everyone older. Arthritis nearly doubles from 11% to 20% as you move from young to senior, and cancer rises from 13% to 19%. Gender effects are narrower but real: hypertension is 61% male, obesity 62% female, diabetes 58% female. Both are statistically significant (chi-square p far below 0.001).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Admission type is strongly tied to condition. More than half of arthritis and obesity admissions are elective. Diabetes and hypertension are about 90% emergency or urgent. Cancer is split, 42% elective and 46% emergency. Asthma is mostly urgent at 53%. This matters for capacity planning because unplanned demand cannot be scheduled.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clearest cost signal in the data. Cancer averages $39.7K per admission, diabetes $30.1K, then asthma, arthritis, hypertension and obesity at $12.5K. Interestingly cost does not follow length of stay: cancer stays 13.2 days on average, shorter than diabetes at 15.1. So the price difference is about treatment intensity, not bed days.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Emergency admissions average $24.3K, about 4% above the overall mean, versus $23.0K elective and $22.7K urgent. The difference is statistically significant but modest. The bigger story is stay length: elective is 10 days, emergency and urgent are about 15.5. So per day, elective care is the most expensive, about $2,300 a day vs $1,550 for emergency.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patients, Cigna and Aetna have the highest average billing at about $24.2K, and Blue Cross the lowest at $22.8K, a 6.4% spread. It is statistically significant but small. The real differences appear when we split by condition, which is the next slide. Medicare is the largest provider with 2,428 admissions.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where insurer choice starts to matter. For cancer, Cigna averages $43.1K while Medicare is $36.1K. For diabetes, UnitedHealthcare is $24.8K versus $32.2K at Blue Cross. Obesity at Blue Cross is also lower. Coral cells are the highest in each column, green the lowest. These are billed amounts, not what the patient pays, and each cell has roughly 250 to 400 admissions.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Equally important is what we can rule out. Correlation between age and billing is 0.01. Between stay length and billing it is essentially zero. Male and female average bills are $23.4K and $23.3K. And the mix of normal, abnormal and inconclusive test results does not differ by condition (p = 0.66). So a planner should not budget by age or gender alone.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patients: do not choose an insurer on the headline average. Look at your own condition: for cancer, Medicare shows the lowest billed average, for diabetes UnitedHealthcare. Caveat that this is billed amount, not out-of-pocket. For hospitals: 69% of admissions are emergency or urgent, but they use 78% of bed-days because the stays are 5 days longer. Staff and bed capacity should be sized for unplanned inflow in diabetes, hypertension and asthma, while arthritis and obesity can be scheduled.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honesty about limits. The key takeaway stands: condition and admission type explain cost and bed use; demographics do not.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188720"/>
            <a:ext cx="7863840" cy="1554480"/>
          </a:xfrm>
          <a:prstGeom prst="rect">
            <a:avLst/>
          </a:prstGeom>
          <a:noFill/>
          <a:ln/>
        </p:spPr>
        <p:txBody>
          <a:bodyPr wrap="square" rtlCol="0"/>
          <a:lstStyle>
            <a:lvl1pPr marL="0" indent="0" algn="l">
              <a:buNone/>
              <a:defRPr lang="en-US" sz="38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3800" dirty="0"/>
          </a:p>
        </p:txBody>
      </p:sp>
      <p:sp>
        <p:nvSpPr>
          <p:cNvPr id="3" name="Text 0"/>
          <p:cNvSpPr>
            <a:spLocks noGrp="1"/>
          </p:cNvSpPr>
          <p:nvPr>
            <p:ph type="body" idx="101" hasCustomPrompt="1"/>
          </p:nvPr>
        </p:nvSpPr>
        <p:spPr>
          <a:xfrm>
            <a:off x="640080" y="3246120"/>
            <a:ext cx="7863840" cy="1097280"/>
          </a:xfrm>
          <a:prstGeom prst="rect">
            <a:avLst/>
          </a:prstGeom>
          <a:noFill/>
          <a:ln/>
        </p:spPr>
        <p:txBody>
          <a:bodyPr wrap="square" rtlCol="0"/>
          <a:lstStyle>
            <a:lvl1pPr marL="0" indent="0">
              <a:buNone/>
              <a:defRPr lang="en-US" sz="1800" dirty="0">
                <a:solidFill>
                  <a:srgbClr val="8FD3C8"/>
                </a:solidFill>
                <a:latin typeface="Calibri" pitchFamily="34" charset="0"/>
                <a:ea typeface="Calibri" pitchFamily="34" charset="-122"/>
                <a:cs typeface="Calibri" pitchFamily="34" charset="-120"/>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rtlCol="0"/>
          <a:lstStyle>
            <a:lvl1pPr marL="0" indent="0" algn="l">
              <a:buNone/>
              <a:defRPr lang="en-US" sz="2600" b="1" dirty="0">
                <a:solidFill>
                  <a:srgbClr val="0B3C49"/>
                </a:solidFill>
                <a:latin typeface="Cambria" pitchFamily="34" charset="0"/>
                <a:ea typeface="Cambria" pitchFamily="34" charset="-122"/>
                <a:cs typeface="Cambria" pitchFamily="34" charset="-120"/>
              </a:defRPr>
            </a:lvl1pPr>
          </a:lstStyle>
          <a:p>
            <a:pPr marL="0" indent="0" algn="l">
              <a:buNone/>
            </a:pPr>
            <a:endParaRPr lang="en-US" sz="26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marL="0" indent="0">
              <a:buNone/>
            </a:pPr>
            <a:r>
              <a:rPr lang="en-US" sz="1000" dirty="0">
                <a:solidFill>
                  <a:srgbClr val="5B6B76"/>
                </a:solidFill>
                <a:latin typeface="Calibri" pitchFamily="34" charset="0"/>
                <a:ea typeface="Calibri" pitchFamily="34" charset="-122"/>
                <a:cs typeface="Calibri" pitchFamily="34" charset="-120"/>
              </a:rPr>
              <a:t>US healthcare case study  |  10,000 admissions, Oct 2018 - Oct 2023</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188720"/>
            <a:ext cx="7863840" cy="155448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What drives hospital cost? Conditions, admission type and demographics</a:t>
            </a:r>
            <a:endParaRPr lang="en-US" sz="3800" dirty="0"/>
          </a:p>
        </p:txBody>
      </p:sp>
      <p:sp>
        <p:nvSpPr>
          <p:cNvPr id="3" name="Text 0"/>
          <p:cNvSpPr>
            <a:spLocks noGrp="1"/>
          </p:cNvSpPr>
          <p:nvPr>
            <p:ph type="body" idx="101" hasCustomPrompt="1"/>
          </p:nvPr>
        </p:nvSpPr>
        <p:spPr>
          <a:xfrm>
            <a:off x="640080" y="3246120"/>
            <a:ext cx="7863840" cy="1097280"/>
          </a:xfrm>
          <a:prstGeom prst="rect">
            <a:avLst/>
          </a:prstGeom>
          <a:noFill/>
          <a:ln/>
        </p:spPr>
        <p:txBody>
          <a:bodyPr wrap="square" lIns="0" tIns="0" rIns="0" bIns="0" rtlCol="0" anchor="t"/>
          <a:lstStyle/>
          <a:p>
            <a:pPr marL="0" indent="0">
              <a:buNone/>
            </a:pPr>
            <a:r>
              <a:rPr lang="en-US" sz="1800" dirty="0">
                <a:solidFill>
                  <a:srgbClr val="8FD3C8"/>
                </a:solidFill>
                <a:latin typeface="Calibri" pitchFamily="34" charset="0"/>
                <a:ea typeface="Calibri" pitchFamily="34" charset="-122"/>
                <a:cs typeface="Calibri" pitchFamily="34" charset="-120"/>
              </a:rPr>
              <a:t>US healthcare case study  |  10,000 admissions, Oct 2018 - Oct 2023</a:t>
            </a:r>
            <a:endParaRPr lang="en-US" sz="1800" dirty="0"/>
          </a:p>
          <a:p>
            <a:pPr marL="0" indent="0">
              <a:buNone/>
            </a:pPr>
            <a:r>
              <a:rPr lang="en-US" sz="1800" b="1" dirty="0">
                <a:solidFill>
                  <a:srgbClr val="8FD3C8"/>
                </a:solidFill>
                <a:latin typeface="Calibri" pitchFamily="34" charset="0"/>
                <a:ea typeface="Calibri" pitchFamily="34" charset="-122"/>
                <a:cs typeface="Calibri" pitchFamily="34" charset="-120"/>
              </a:rPr>
              <a:t>Presented by Shakeel Nawaz Khan</a:t>
            </a:r>
            <a:endParaRPr lang="en-US"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Condition and admission type drive cost and bed use; age and gender barely matter</a:t>
            </a:r>
            <a:endParaRPr lang="en-US" sz="2600" u="sng" dirty="0"/>
          </a:p>
        </p:txBody>
      </p:sp>
      <p:sp>
        <p:nvSpPr>
          <p:cNvPr id="4" name="Shape 1"/>
          <p:cNvSpPr/>
          <p:nvPr/>
        </p:nvSpPr>
        <p:spPr>
          <a:xfrm>
            <a:off x="457200" y="1234440"/>
            <a:ext cx="2606040" cy="1188720"/>
          </a:xfrm>
          <a:prstGeom prst="roundRect">
            <a:avLst>
              <a:gd name="adj" fmla="val 9231"/>
            </a:avLst>
          </a:prstGeom>
          <a:solidFill>
            <a:srgbClr val="F3F7F8"/>
          </a:solidFill>
          <a:ln w="12700">
            <a:solidFill>
              <a:srgbClr val="F3F7F8"/>
            </a:solidFill>
            <a:prstDash val="solid"/>
          </a:ln>
        </p:spPr>
      </p:sp>
      <p:sp>
        <p:nvSpPr>
          <p:cNvPr id="5" name="Text 2"/>
          <p:cNvSpPr txBox="1"/>
          <p:nvPr/>
        </p:nvSpPr>
        <p:spPr>
          <a:xfrm>
            <a:off x="594360" y="1325880"/>
            <a:ext cx="233172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$23.4K</a:t>
            </a:r>
            <a:endParaRPr lang="en-US" sz="3400" dirty="0"/>
          </a:p>
        </p:txBody>
      </p:sp>
      <p:sp>
        <p:nvSpPr>
          <p:cNvPr id="6" name="Text 3"/>
          <p:cNvSpPr txBox="1"/>
          <p:nvPr/>
        </p:nvSpPr>
        <p:spPr>
          <a:xfrm>
            <a:off x="594360" y="1965960"/>
            <a:ext cx="2331720" cy="384048"/>
          </a:xfrm>
          <a:prstGeom prst="rect">
            <a:avLst/>
          </a:prstGeom>
          <a:noFill/>
          <a:ln/>
        </p:spPr>
        <p:txBody>
          <a:bodyPr wrap="square" lIns="0" tIns="0" rIns="0" bIns="0" rtlCol="0" anchor="t"/>
          <a:lstStyle/>
          <a:p>
            <a:pPr marL="0" indent="0">
              <a:buNone/>
            </a:pPr>
            <a:r>
              <a:rPr lang="en-US" sz="1200" dirty="0">
                <a:solidFill>
                  <a:srgbClr val="1F2933"/>
                </a:solidFill>
              </a:rPr>
              <a:t>average billing per admission</a:t>
            </a:r>
            <a:endParaRPr lang="en-US" sz="1200" dirty="0"/>
          </a:p>
        </p:txBody>
      </p:sp>
      <p:sp>
        <p:nvSpPr>
          <p:cNvPr id="7" name="Shape 4"/>
          <p:cNvSpPr/>
          <p:nvPr/>
        </p:nvSpPr>
        <p:spPr>
          <a:xfrm>
            <a:off x="3273552" y="1234440"/>
            <a:ext cx="2606040" cy="1188720"/>
          </a:xfrm>
          <a:prstGeom prst="roundRect">
            <a:avLst>
              <a:gd name="adj" fmla="val 9231"/>
            </a:avLst>
          </a:prstGeom>
          <a:solidFill>
            <a:srgbClr val="F3F7F8"/>
          </a:solidFill>
          <a:ln w="12700">
            <a:solidFill>
              <a:srgbClr val="F3F7F8"/>
            </a:solidFill>
            <a:prstDash val="solid"/>
          </a:ln>
        </p:spPr>
      </p:sp>
      <p:sp>
        <p:nvSpPr>
          <p:cNvPr id="8" name="Text 5"/>
          <p:cNvSpPr txBox="1"/>
          <p:nvPr/>
        </p:nvSpPr>
        <p:spPr>
          <a:xfrm>
            <a:off x="3410712" y="1325880"/>
            <a:ext cx="2331720" cy="640080"/>
          </a:xfrm>
          <a:prstGeom prst="rect">
            <a:avLst/>
          </a:prstGeom>
          <a:noFill/>
          <a:ln/>
        </p:spPr>
        <p:txBody>
          <a:bodyPr wrap="square" lIns="0" tIns="0" rIns="0" bIns="0" rtlCol="0" anchor="ctr"/>
          <a:lstStyle/>
          <a:p>
            <a:pPr marL="0" indent="0">
              <a:buNone/>
            </a:pPr>
            <a:r>
              <a:rPr lang="en-US" sz="2000" b="1" dirty="0">
                <a:solidFill>
                  <a:srgbClr val="1B7F8C"/>
                </a:solidFill>
                <a:latin typeface="Cambria" pitchFamily="34" charset="0"/>
                <a:ea typeface="Cambria" pitchFamily="34" charset="-122"/>
                <a:cs typeface="Cambria" pitchFamily="34" charset="-120"/>
              </a:rPr>
              <a:t>13.8 days</a:t>
            </a:r>
            <a:endParaRPr lang="en-US" sz="2000" dirty="0"/>
          </a:p>
        </p:txBody>
      </p:sp>
      <p:sp>
        <p:nvSpPr>
          <p:cNvPr id="9" name="Text 6"/>
          <p:cNvSpPr txBox="1"/>
          <p:nvPr/>
        </p:nvSpPr>
        <p:spPr>
          <a:xfrm>
            <a:off x="3410712" y="1965960"/>
            <a:ext cx="2331720" cy="384048"/>
          </a:xfrm>
          <a:prstGeom prst="rect">
            <a:avLst/>
          </a:prstGeom>
          <a:noFill/>
          <a:ln/>
        </p:spPr>
        <p:txBody>
          <a:bodyPr wrap="square" lIns="0" tIns="0" rIns="0" bIns="0" rtlCol="0" anchor="t"/>
          <a:lstStyle/>
          <a:p>
            <a:pPr marL="0" indent="0">
              <a:buNone/>
            </a:pPr>
            <a:r>
              <a:rPr lang="en-US" sz="1200" dirty="0">
                <a:solidFill>
                  <a:srgbClr val="1F2933"/>
                </a:solidFill>
              </a:rPr>
              <a:t>average length of stay</a:t>
            </a:r>
            <a:endParaRPr lang="en-US" sz="1200" dirty="0"/>
          </a:p>
        </p:txBody>
      </p:sp>
      <p:sp>
        <p:nvSpPr>
          <p:cNvPr id="10" name="Shape 7"/>
          <p:cNvSpPr/>
          <p:nvPr/>
        </p:nvSpPr>
        <p:spPr>
          <a:xfrm>
            <a:off x="6089904" y="1234440"/>
            <a:ext cx="2606040" cy="1188720"/>
          </a:xfrm>
          <a:prstGeom prst="roundRect">
            <a:avLst>
              <a:gd name="adj" fmla="val 9231"/>
            </a:avLst>
          </a:prstGeom>
          <a:solidFill>
            <a:srgbClr val="F3F7F8"/>
          </a:solidFill>
          <a:ln w="12700">
            <a:solidFill>
              <a:srgbClr val="F3F7F8"/>
            </a:solidFill>
            <a:prstDash val="solid"/>
          </a:ln>
        </p:spPr>
      </p:sp>
      <p:sp>
        <p:nvSpPr>
          <p:cNvPr id="11" name="Text 8"/>
          <p:cNvSpPr txBox="1"/>
          <p:nvPr/>
        </p:nvSpPr>
        <p:spPr>
          <a:xfrm>
            <a:off x="6227064" y="1325880"/>
            <a:ext cx="233172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$234M</a:t>
            </a:r>
            <a:endParaRPr lang="en-US" sz="3400" dirty="0"/>
          </a:p>
        </p:txBody>
      </p:sp>
      <p:sp>
        <p:nvSpPr>
          <p:cNvPr id="12" name="Text 9"/>
          <p:cNvSpPr txBox="1"/>
          <p:nvPr/>
        </p:nvSpPr>
        <p:spPr>
          <a:xfrm>
            <a:off x="6227064" y="1965960"/>
            <a:ext cx="2331720" cy="384048"/>
          </a:xfrm>
          <a:prstGeom prst="rect">
            <a:avLst/>
          </a:prstGeom>
          <a:noFill/>
          <a:ln/>
        </p:spPr>
        <p:txBody>
          <a:bodyPr wrap="square" lIns="0" tIns="0" rIns="0" bIns="0" rtlCol="0" anchor="t"/>
          <a:lstStyle/>
          <a:p>
            <a:pPr marL="0" indent="0">
              <a:buNone/>
            </a:pPr>
            <a:r>
              <a:rPr lang="en-US" sz="1200" dirty="0">
                <a:solidFill>
                  <a:srgbClr val="1F2933"/>
                </a:solidFill>
              </a:rPr>
              <a:t>total billed across 10,000 admissions</a:t>
            </a:r>
            <a:endParaRPr lang="en-US" sz="1200" dirty="0"/>
          </a:p>
        </p:txBody>
      </p:sp>
      <p:sp>
        <p:nvSpPr>
          <p:cNvPr id="13" name="Shape 10"/>
          <p:cNvSpPr/>
          <p:nvPr/>
        </p:nvSpPr>
        <p:spPr>
          <a:xfrm>
            <a:off x="457200" y="2697480"/>
            <a:ext cx="2606040" cy="1828800"/>
          </a:xfrm>
          <a:prstGeom prst="roundRect">
            <a:avLst>
              <a:gd name="adj" fmla="val 6000"/>
            </a:avLst>
          </a:prstGeom>
          <a:solidFill>
            <a:srgbClr val="FFFFFF"/>
          </a:solidFill>
          <a:ln w="12700">
            <a:solidFill>
              <a:srgbClr val="FFFFFF"/>
            </a:solidFill>
            <a:prstDash val="solid"/>
          </a:ln>
        </p:spPr>
      </p:sp>
      <p:sp>
        <p:nvSpPr>
          <p:cNvPr id="14" name="Shape 11"/>
          <p:cNvSpPr/>
          <p:nvPr/>
        </p:nvSpPr>
        <p:spPr>
          <a:xfrm>
            <a:off x="594360" y="2834640"/>
            <a:ext cx="411480" cy="411480"/>
          </a:xfrm>
          <a:prstGeom prst="ellipse">
            <a:avLst/>
          </a:prstGeom>
          <a:solidFill>
            <a:srgbClr val="E4572E"/>
          </a:solidFill>
          <a:ln w="12700">
            <a:solidFill>
              <a:srgbClr val="E4572E"/>
            </a:solidFill>
            <a:prstDash val="solid"/>
          </a:ln>
        </p:spPr>
      </p:sp>
      <p:sp>
        <p:nvSpPr>
          <p:cNvPr id="15" name="Text 12"/>
          <p:cNvSpPr txBox="1"/>
          <p:nvPr/>
        </p:nvSpPr>
        <p:spPr>
          <a:xfrm>
            <a:off x="594360" y="28346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6" name="Text 13"/>
          <p:cNvSpPr txBox="1"/>
          <p:nvPr/>
        </p:nvSpPr>
        <p:spPr>
          <a:xfrm>
            <a:off x="594360" y="3337560"/>
            <a:ext cx="2331720" cy="365760"/>
          </a:xfrm>
          <a:prstGeom prst="rect">
            <a:avLst/>
          </a:prstGeom>
          <a:noFill/>
          <a:ln/>
        </p:spPr>
        <p:txBody>
          <a:bodyPr wrap="square" lIns="0" tIns="0" rIns="0" bIns="0" rtlCol="0" anchor="ctr"/>
          <a:lstStyle/>
          <a:p>
            <a:pPr marL="0" indent="0">
              <a:buNone/>
            </a:pPr>
            <a:r>
              <a:rPr lang="en-US" sz="1500" b="1" dirty="0">
                <a:solidFill>
                  <a:srgbClr val="0B3C49"/>
                </a:solidFill>
              </a:rPr>
              <a:t>Condition sets the price</a:t>
            </a:r>
            <a:endParaRPr lang="en-US" sz="1500" dirty="0"/>
          </a:p>
        </p:txBody>
      </p:sp>
      <p:sp>
        <p:nvSpPr>
          <p:cNvPr id="17" name="Text 14"/>
          <p:cNvSpPr txBox="1"/>
          <p:nvPr/>
        </p:nvSpPr>
        <p:spPr>
          <a:xfrm>
            <a:off x="594360" y="3703320"/>
            <a:ext cx="2331720" cy="777240"/>
          </a:xfrm>
          <a:prstGeom prst="rect">
            <a:avLst/>
          </a:prstGeom>
          <a:noFill/>
          <a:ln/>
        </p:spPr>
        <p:txBody>
          <a:bodyPr wrap="square" lIns="0" tIns="0" rIns="0" bIns="0" rtlCol="0" anchor="t"/>
          <a:lstStyle/>
          <a:p>
            <a:pPr marL="0" indent="0">
              <a:buNone/>
            </a:pPr>
            <a:r>
              <a:rPr lang="en-US" sz="1300" dirty="0">
                <a:solidFill>
                  <a:srgbClr val="1F2933"/>
                </a:solidFill>
              </a:rPr>
              <a:t>Cancer averages $39.7K per admission, 3.2x obesity ($12.5K).</a:t>
            </a:r>
            <a:endParaRPr lang="en-US" sz="1300" dirty="0"/>
          </a:p>
        </p:txBody>
      </p:sp>
      <p:sp>
        <p:nvSpPr>
          <p:cNvPr id="18" name="Shape 15"/>
          <p:cNvSpPr/>
          <p:nvPr/>
        </p:nvSpPr>
        <p:spPr>
          <a:xfrm>
            <a:off x="3273552" y="2697480"/>
            <a:ext cx="2606040" cy="1828800"/>
          </a:xfrm>
          <a:prstGeom prst="roundRect">
            <a:avLst>
              <a:gd name="adj" fmla="val 6000"/>
            </a:avLst>
          </a:prstGeom>
          <a:solidFill>
            <a:srgbClr val="FFFFFF"/>
          </a:solidFill>
          <a:ln w="12700">
            <a:solidFill>
              <a:srgbClr val="FFFFFF"/>
            </a:solidFill>
            <a:prstDash val="solid"/>
          </a:ln>
        </p:spPr>
      </p:sp>
      <p:sp>
        <p:nvSpPr>
          <p:cNvPr id="19" name="Shape 16"/>
          <p:cNvSpPr/>
          <p:nvPr/>
        </p:nvSpPr>
        <p:spPr>
          <a:xfrm>
            <a:off x="3410712" y="2834640"/>
            <a:ext cx="411480" cy="411480"/>
          </a:xfrm>
          <a:prstGeom prst="ellipse">
            <a:avLst/>
          </a:prstGeom>
          <a:solidFill>
            <a:srgbClr val="E4572E"/>
          </a:solidFill>
          <a:ln w="12700">
            <a:solidFill>
              <a:srgbClr val="E4572E"/>
            </a:solidFill>
            <a:prstDash val="solid"/>
          </a:ln>
        </p:spPr>
      </p:sp>
      <p:sp>
        <p:nvSpPr>
          <p:cNvPr id="20" name="Text 17"/>
          <p:cNvSpPr txBox="1"/>
          <p:nvPr/>
        </p:nvSpPr>
        <p:spPr>
          <a:xfrm>
            <a:off x="3410712" y="28346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21" name="Text 18"/>
          <p:cNvSpPr txBox="1"/>
          <p:nvPr/>
        </p:nvSpPr>
        <p:spPr>
          <a:xfrm>
            <a:off x="3410712" y="3337560"/>
            <a:ext cx="2331720" cy="365760"/>
          </a:xfrm>
          <a:prstGeom prst="rect">
            <a:avLst/>
          </a:prstGeom>
          <a:noFill/>
          <a:ln/>
        </p:spPr>
        <p:txBody>
          <a:bodyPr wrap="square" lIns="0" tIns="0" rIns="0" bIns="0" rtlCol="0" anchor="ctr"/>
          <a:lstStyle/>
          <a:p>
            <a:pPr marL="0" indent="0">
              <a:buNone/>
            </a:pPr>
            <a:r>
              <a:rPr lang="en-US" sz="1500" b="1" dirty="0">
                <a:solidFill>
                  <a:srgbClr val="0B3C49"/>
                </a:solidFill>
              </a:rPr>
              <a:t>Admission type sets the stay</a:t>
            </a:r>
            <a:endParaRPr lang="en-US" sz="1500" dirty="0"/>
          </a:p>
        </p:txBody>
      </p:sp>
      <p:sp>
        <p:nvSpPr>
          <p:cNvPr id="22" name="Text 19"/>
          <p:cNvSpPr txBox="1"/>
          <p:nvPr/>
        </p:nvSpPr>
        <p:spPr>
          <a:xfrm>
            <a:off x="3410712" y="3703320"/>
            <a:ext cx="2331720" cy="777240"/>
          </a:xfrm>
          <a:prstGeom prst="rect">
            <a:avLst/>
          </a:prstGeom>
          <a:noFill/>
          <a:ln/>
        </p:spPr>
        <p:txBody>
          <a:bodyPr wrap="square" lIns="0" tIns="0" rIns="0" bIns="0" rtlCol="0" anchor="t"/>
          <a:lstStyle/>
          <a:p>
            <a:pPr marL="0" indent="0">
              <a:buNone/>
            </a:pPr>
            <a:r>
              <a:rPr lang="en-US" sz="1300" dirty="0">
                <a:solidFill>
                  <a:srgbClr val="1F2933"/>
                </a:solidFill>
              </a:rPr>
              <a:t>Emergency and urgent stays run about 15.5 days vs 10 for elective.</a:t>
            </a:r>
            <a:endParaRPr lang="en-US" sz="1300" dirty="0"/>
          </a:p>
        </p:txBody>
      </p:sp>
      <p:sp>
        <p:nvSpPr>
          <p:cNvPr id="23" name="Shape 20"/>
          <p:cNvSpPr/>
          <p:nvPr/>
        </p:nvSpPr>
        <p:spPr>
          <a:xfrm>
            <a:off x="6089904" y="2697480"/>
            <a:ext cx="2606040" cy="1828800"/>
          </a:xfrm>
          <a:prstGeom prst="roundRect">
            <a:avLst>
              <a:gd name="adj" fmla="val 6000"/>
            </a:avLst>
          </a:prstGeom>
          <a:solidFill>
            <a:srgbClr val="FFFFFF"/>
          </a:solidFill>
          <a:ln w="12700">
            <a:solidFill>
              <a:srgbClr val="FFFFFF"/>
            </a:solidFill>
            <a:prstDash val="solid"/>
          </a:ln>
        </p:spPr>
      </p:sp>
      <p:sp>
        <p:nvSpPr>
          <p:cNvPr id="24" name="Shape 21"/>
          <p:cNvSpPr/>
          <p:nvPr/>
        </p:nvSpPr>
        <p:spPr>
          <a:xfrm>
            <a:off x="6227064" y="2834640"/>
            <a:ext cx="411480" cy="411480"/>
          </a:xfrm>
          <a:prstGeom prst="ellipse">
            <a:avLst/>
          </a:prstGeom>
          <a:solidFill>
            <a:srgbClr val="E4572E"/>
          </a:solidFill>
          <a:ln w="12700">
            <a:solidFill>
              <a:srgbClr val="E4572E"/>
            </a:solidFill>
            <a:prstDash val="solid"/>
          </a:ln>
        </p:spPr>
      </p:sp>
      <p:sp>
        <p:nvSpPr>
          <p:cNvPr id="25" name="Text 22"/>
          <p:cNvSpPr txBox="1"/>
          <p:nvPr/>
        </p:nvSpPr>
        <p:spPr>
          <a:xfrm>
            <a:off x="6227064" y="28346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6" name="Text 23"/>
          <p:cNvSpPr txBox="1"/>
          <p:nvPr/>
        </p:nvSpPr>
        <p:spPr>
          <a:xfrm>
            <a:off x="6227064" y="3337560"/>
            <a:ext cx="2331720" cy="365760"/>
          </a:xfrm>
          <a:prstGeom prst="rect">
            <a:avLst/>
          </a:prstGeom>
          <a:noFill/>
          <a:ln/>
        </p:spPr>
        <p:txBody>
          <a:bodyPr wrap="square" lIns="0" tIns="0" rIns="0" bIns="0" rtlCol="0" anchor="ctr"/>
          <a:lstStyle/>
          <a:p>
            <a:pPr marL="0" indent="0">
              <a:buNone/>
            </a:pPr>
            <a:r>
              <a:rPr lang="en-US" sz="1500" b="1" dirty="0">
                <a:solidFill>
                  <a:srgbClr val="0B3C49"/>
                </a:solidFill>
              </a:rPr>
              <a:t>Demographics matter little</a:t>
            </a:r>
            <a:endParaRPr lang="en-US" sz="1500" dirty="0"/>
          </a:p>
        </p:txBody>
      </p:sp>
      <p:sp>
        <p:nvSpPr>
          <p:cNvPr id="27" name="Text 24"/>
          <p:cNvSpPr txBox="1"/>
          <p:nvPr/>
        </p:nvSpPr>
        <p:spPr>
          <a:xfrm>
            <a:off x="6227064" y="3703320"/>
            <a:ext cx="2331720" cy="777240"/>
          </a:xfrm>
          <a:prstGeom prst="rect">
            <a:avLst/>
          </a:prstGeom>
          <a:noFill/>
          <a:ln/>
        </p:spPr>
        <p:txBody>
          <a:bodyPr wrap="square" lIns="0" tIns="0" rIns="0" bIns="0" rtlCol="0" anchor="t"/>
          <a:lstStyle/>
          <a:p>
            <a:pPr marL="0" indent="0">
              <a:buNone/>
            </a:pPr>
            <a:r>
              <a:rPr lang="en-US" sz="1300" dirty="0">
                <a:solidFill>
                  <a:srgbClr val="1F2933"/>
                </a:solidFill>
              </a:rPr>
              <a:t>Age, gender and length of stay have near-zero correlation with billing.</a:t>
            </a:r>
            <a:endParaRPr lang="en-US" sz="1300" dirty="0"/>
          </a:p>
        </p:txBody>
      </p:sp>
      <p:sp>
        <p:nvSpPr>
          <p:cNvPr id="28" name="Shape 25"/>
          <p:cNvSpPr/>
          <p:nvPr/>
        </p:nvSpPr>
        <p:spPr>
          <a:xfrm>
            <a:off x="457200" y="2697480"/>
            <a:ext cx="2606040" cy="1828800"/>
          </a:xfrm>
          <a:prstGeom prst="roundRect">
            <a:avLst>
              <a:gd name="adj" fmla="val 6000"/>
            </a:avLst>
          </a:prstGeom>
          <a:solidFill>
            <a:srgbClr val="FFFFFF">
              <a:alpha val="0"/>
            </a:srgbClr>
          </a:solidFill>
          <a:ln w="12700">
            <a:solidFill>
              <a:schemeClr val="tx2"/>
            </a:solidFill>
            <a:prstDash val="solid"/>
          </a:ln>
        </p:spPr>
      </p:sp>
      <p:sp>
        <p:nvSpPr>
          <p:cNvPr id="29" name="Shape 26"/>
          <p:cNvSpPr/>
          <p:nvPr/>
        </p:nvSpPr>
        <p:spPr>
          <a:xfrm>
            <a:off x="3273552" y="2697480"/>
            <a:ext cx="2606040" cy="1828800"/>
          </a:xfrm>
          <a:prstGeom prst="roundRect">
            <a:avLst>
              <a:gd name="adj" fmla="val 6000"/>
            </a:avLst>
          </a:prstGeom>
          <a:solidFill>
            <a:srgbClr val="FFFFFF">
              <a:alpha val="0"/>
            </a:srgbClr>
          </a:solidFill>
          <a:ln w="12700">
            <a:solidFill>
              <a:schemeClr val="tx2"/>
            </a:solidFill>
            <a:prstDash val="solid"/>
          </a:ln>
        </p:spPr>
      </p:sp>
      <p:sp>
        <p:nvSpPr>
          <p:cNvPr id="30" name="Shape 27"/>
          <p:cNvSpPr/>
          <p:nvPr/>
        </p:nvSpPr>
        <p:spPr>
          <a:xfrm>
            <a:off x="6089904" y="2697480"/>
            <a:ext cx="2606040" cy="1828800"/>
          </a:xfrm>
          <a:prstGeom prst="roundRect">
            <a:avLst>
              <a:gd name="adj" fmla="val 6000"/>
            </a:avLst>
          </a:prstGeom>
          <a:solidFill>
            <a:srgbClr val="FFFFFF">
              <a:alpha val="0"/>
            </a:srgbClr>
          </a:solidFill>
          <a:ln w="12700">
            <a:solidFill>
              <a:schemeClr val="tx2"/>
            </a:solidFill>
            <a:prstDash val="solid"/>
          </a:ln>
        </p:spPr>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Below is the major data cleaning steps.</a:t>
            </a:r>
            <a:endParaRPr lang="en-US" sz="2600" u="sng" dirty="0"/>
          </a:p>
        </p:txBody>
      </p:sp>
      <p:sp>
        <p:nvSpPr>
          <p:cNvPr id="4" name="Shape 1"/>
          <p:cNvSpPr/>
          <p:nvPr/>
        </p:nvSpPr>
        <p:spPr>
          <a:xfrm>
            <a:off x="457200" y="1234440"/>
            <a:ext cx="2606040" cy="1188720"/>
          </a:xfrm>
          <a:prstGeom prst="roundRect">
            <a:avLst>
              <a:gd name="adj" fmla="val 9231"/>
            </a:avLst>
          </a:prstGeom>
          <a:solidFill>
            <a:srgbClr val="F3F7F8"/>
          </a:solidFill>
          <a:ln w="12700">
            <a:solidFill>
              <a:srgbClr val="F3F7F8"/>
            </a:solidFill>
            <a:prstDash val="solid"/>
          </a:ln>
        </p:spPr>
      </p:sp>
      <p:sp>
        <p:nvSpPr>
          <p:cNvPr id="5" name="Text 2"/>
          <p:cNvSpPr txBox="1"/>
          <p:nvPr/>
        </p:nvSpPr>
        <p:spPr>
          <a:xfrm>
            <a:off x="594360" y="1325880"/>
            <a:ext cx="233172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10,000</a:t>
            </a:r>
            <a:endParaRPr lang="en-US" sz="3400" dirty="0"/>
          </a:p>
        </p:txBody>
      </p:sp>
      <p:sp>
        <p:nvSpPr>
          <p:cNvPr id="6" name="Text 3"/>
          <p:cNvSpPr txBox="1"/>
          <p:nvPr/>
        </p:nvSpPr>
        <p:spPr>
          <a:xfrm>
            <a:off x="594360" y="1965960"/>
            <a:ext cx="2331720" cy="384048"/>
          </a:xfrm>
          <a:prstGeom prst="rect">
            <a:avLst/>
          </a:prstGeom>
          <a:noFill/>
          <a:ln/>
        </p:spPr>
        <p:txBody>
          <a:bodyPr wrap="square" lIns="0" tIns="0" rIns="0" bIns="0" rtlCol="0" anchor="t"/>
          <a:lstStyle/>
          <a:p>
            <a:pPr marL="0" indent="0">
              <a:buNone/>
            </a:pPr>
            <a:r>
              <a:rPr lang="en-US" sz="1200" dirty="0">
                <a:solidFill>
                  <a:srgbClr val="1F2933"/>
                </a:solidFill>
              </a:rPr>
              <a:t>records, 0 missing values, 0 duplicate rows</a:t>
            </a:r>
            <a:endParaRPr lang="en-US" sz="1200" dirty="0"/>
          </a:p>
        </p:txBody>
      </p:sp>
      <p:sp>
        <p:nvSpPr>
          <p:cNvPr id="7" name="Shape 4"/>
          <p:cNvSpPr/>
          <p:nvPr/>
        </p:nvSpPr>
        <p:spPr>
          <a:xfrm>
            <a:off x="3273552" y="1234440"/>
            <a:ext cx="2606040" cy="1188720"/>
          </a:xfrm>
          <a:prstGeom prst="roundRect">
            <a:avLst>
              <a:gd name="adj" fmla="val 9231"/>
            </a:avLst>
          </a:prstGeom>
          <a:solidFill>
            <a:srgbClr val="F3F7F8"/>
          </a:solidFill>
          <a:ln w="12700">
            <a:solidFill>
              <a:srgbClr val="F3F7F8"/>
            </a:solidFill>
            <a:prstDash val="solid"/>
          </a:ln>
        </p:spPr>
      </p:sp>
      <p:sp>
        <p:nvSpPr>
          <p:cNvPr id="8" name="Text 5"/>
          <p:cNvSpPr txBox="1"/>
          <p:nvPr/>
        </p:nvSpPr>
        <p:spPr>
          <a:xfrm>
            <a:off x="3410712" y="1325880"/>
            <a:ext cx="2331720" cy="640080"/>
          </a:xfrm>
          <a:prstGeom prst="rect">
            <a:avLst/>
          </a:prstGeom>
          <a:noFill/>
          <a:ln/>
        </p:spPr>
        <p:txBody>
          <a:bodyPr wrap="square" lIns="0" tIns="0" rIns="0" bIns="0" rtlCol="0" anchor="ctr"/>
          <a:lstStyle/>
          <a:p>
            <a:pPr marL="0" indent="0">
              <a:buNone/>
            </a:pPr>
            <a:r>
              <a:rPr lang="en-US" sz="3400" b="1" dirty="0">
                <a:solidFill>
                  <a:srgbClr val="E4572E"/>
                </a:solidFill>
                <a:latin typeface="Cambria" pitchFamily="34" charset="0"/>
                <a:ea typeface="Cambria" pitchFamily="34" charset="-122"/>
                <a:cs typeface="Cambria" pitchFamily="34" charset="-120"/>
              </a:rPr>
              <a:t>158</a:t>
            </a:r>
            <a:endParaRPr lang="en-US" sz="3400" dirty="0"/>
          </a:p>
        </p:txBody>
      </p:sp>
      <p:sp>
        <p:nvSpPr>
          <p:cNvPr id="9" name="Text 6"/>
          <p:cNvSpPr txBox="1"/>
          <p:nvPr/>
        </p:nvSpPr>
        <p:spPr>
          <a:xfrm>
            <a:off x="3410712" y="1965960"/>
            <a:ext cx="2331720" cy="384048"/>
          </a:xfrm>
          <a:prstGeom prst="rect">
            <a:avLst/>
          </a:prstGeom>
          <a:noFill/>
          <a:ln/>
        </p:spPr>
        <p:txBody>
          <a:bodyPr wrap="square" lIns="0" tIns="0" rIns="0" bIns="0" rtlCol="0" anchor="t"/>
          <a:lstStyle/>
          <a:p>
            <a:pPr marL="0" indent="0">
              <a:buNone/>
            </a:pPr>
            <a:r>
              <a:rPr lang="en-US" sz="1200" dirty="0">
                <a:solidFill>
                  <a:srgbClr val="1F2933"/>
                </a:solidFill>
              </a:rPr>
              <a:t>ages stored as 1 - the "8I" typo, corrected to 81 here</a:t>
            </a:r>
            <a:endParaRPr lang="en-US" sz="1200" dirty="0"/>
          </a:p>
        </p:txBody>
      </p:sp>
      <p:sp>
        <p:nvSpPr>
          <p:cNvPr id="10" name="Shape 7"/>
          <p:cNvSpPr/>
          <p:nvPr/>
        </p:nvSpPr>
        <p:spPr>
          <a:xfrm>
            <a:off x="6089904" y="1234440"/>
            <a:ext cx="2606040" cy="1188720"/>
          </a:xfrm>
          <a:prstGeom prst="roundRect">
            <a:avLst>
              <a:gd name="adj" fmla="val 9231"/>
            </a:avLst>
          </a:prstGeom>
          <a:solidFill>
            <a:srgbClr val="F3F7F8"/>
          </a:solidFill>
          <a:ln w="12700">
            <a:solidFill>
              <a:srgbClr val="F3F7F8"/>
            </a:solidFill>
            <a:prstDash val="solid"/>
          </a:ln>
        </p:spPr>
      </p:sp>
      <p:sp>
        <p:nvSpPr>
          <p:cNvPr id="11" name="Text 8"/>
          <p:cNvSpPr txBox="1"/>
          <p:nvPr/>
        </p:nvSpPr>
        <p:spPr>
          <a:xfrm>
            <a:off x="6227064" y="1325880"/>
            <a:ext cx="233172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102</a:t>
            </a:r>
            <a:endParaRPr lang="en-US" sz="3400" dirty="0"/>
          </a:p>
        </p:txBody>
      </p:sp>
      <p:sp>
        <p:nvSpPr>
          <p:cNvPr id="12" name="Text 9"/>
          <p:cNvSpPr txBox="1"/>
          <p:nvPr/>
        </p:nvSpPr>
        <p:spPr>
          <a:xfrm>
            <a:off x="6227064" y="1965960"/>
            <a:ext cx="2331720" cy="384048"/>
          </a:xfrm>
          <a:prstGeom prst="rect">
            <a:avLst/>
          </a:prstGeom>
          <a:noFill/>
          <a:ln/>
        </p:spPr>
        <p:txBody>
          <a:bodyPr wrap="square" lIns="0" tIns="0" rIns="0" bIns="0" rtlCol="0" anchor="t"/>
          <a:lstStyle/>
          <a:p>
            <a:pPr marL="0" indent="0">
              <a:buNone/>
            </a:pPr>
            <a:r>
              <a:rPr lang="en-US" sz="1200" dirty="0">
                <a:solidFill>
                  <a:srgbClr val="1F2933"/>
                </a:solidFill>
              </a:rPr>
              <a:t>same-day (0 day) stays kept as valid day-cases</a:t>
            </a:r>
            <a:endParaRPr lang="en-US" sz="1200" dirty="0"/>
          </a:p>
        </p:txBody>
      </p:sp>
      <p:sp>
        <p:nvSpPr>
          <p:cNvPr id="13" name="Text 10"/>
          <p:cNvSpPr txBox="1"/>
          <p:nvPr/>
        </p:nvSpPr>
        <p:spPr>
          <a:xfrm>
            <a:off x="457200" y="2651760"/>
            <a:ext cx="1554480" cy="347472"/>
          </a:xfrm>
          <a:prstGeom prst="rect">
            <a:avLst/>
          </a:prstGeom>
          <a:noFill/>
          <a:ln/>
        </p:spPr>
        <p:txBody>
          <a:bodyPr wrap="square" lIns="0" tIns="0" rIns="0" bIns="0" rtlCol="0" anchor="ctr"/>
          <a:lstStyle/>
          <a:p>
            <a:pPr marL="0" indent="0">
              <a:buNone/>
            </a:pPr>
            <a:r>
              <a:rPr lang="en-US" sz="1300" b="1" dirty="0">
                <a:solidFill>
                  <a:srgbClr val="0B3C49"/>
                </a:solidFill>
              </a:rPr>
              <a:t>Blood type</a:t>
            </a:r>
            <a:endParaRPr lang="en-US" sz="1300" dirty="0"/>
          </a:p>
        </p:txBody>
      </p:sp>
      <p:sp>
        <p:nvSpPr>
          <p:cNvPr id="14" name="Text 11"/>
          <p:cNvSpPr txBox="1"/>
          <p:nvPr/>
        </p:nvSpPr>
        <p:spPr>
          <a:xfrm>
            <a:off x="2057400" y="2651760"/>
            <a:ext cx="6629400" cy="347472"/>
          </a:xfrm>
          <a:prstGeom prst="rect">
            <a:avLst/>
          </a:prstGeom>
          <a:noFill/>
          <a:ln/>
        </p:spPr>
        <p:txBody>
          <a:bodyPr wrap="square" lIns="0" tIns="0" rIns="0" bIns="0" rtlCol="0" anchor="ctr"/>
          <a:lstStyle/>
          <a:p>
            <a:pPr marL="0" indent="0">
              <a:buNone/>
            </a:pPr>
            <a:r>
              <a:rPr lang="en-US" sz="1300" dirty="0">
                <a:solidFill>
                  <a:srgbClr val="1F2933"/>
                </a:solidFill>
              </a:rPr>
              <a:t>49 values had trailing spaces ("O- ", "AB- "); trimmed</a:t>
            </a:r>
            <a:endParaRPr lang="en-US" sz="1300" dirty="0"/>
          </a:p>
        </p:txBody>
      </p:sp>
      <p:sp>
        <p:nvSpPr>
          <p:cNvPr id="15" name="Text 12"/>
          <p:cNvSpPr txBox="1"/>
          <p:nvPr/>
        </p:nvSpPr>
        <p:spPr>
          <a:xfrm>
            <a:off x="457200" y="3044952"/>
            <a:ext cx="1554480" cy="347472"/>
          </a:xfrm>
          <a:prstGeom prst="rect">
            <a:avLst/>
          </a:prstGeom>
          <a:noFill/>
          <a:ln/>
        </p:spPr>
        <p:txBody>
          <a:bodyPr wrap="square" lIns="0" tIns="0" rIns="0" bIns="0" rtlCol="0" anchor="ctr"/>
          <a:lstStyle/>
          <a:p>
            <a:pPr marL="0" indent="0">
              <a:buNone/>
            </a:pPr>
            <a:r>
              <a:rPr lang="en-US" sz="1300" b="1" dirty="0">
                <a:solidFill>
                  <a:srgbClr val="0B3C49"/>
                </a:solidFill>
              </a:rPr>
              <a:t>Billing column</a:t>
            </a:r>
            <a:endParaRPr lang="en-US" sz="1300" dirty="0"/>
          </a:p>
        </p:txBody>
      </p:sp>
      <p:sp>
        <p:nvSpPr>
          <p:cNvPr id="16" name="Text 13"/>
          <p:cNvSpPr txBox="1"/>
          <p:nvPr/>
        </p:nvSpPr>
        <p:spPr>
          <a:xfrm>
            <a:off x="2057400" y="3044952"/>
            <a:ext cx="6629400" cy="347472"/>
          </a:xfrm>
          <a:prstGeom prst="rect">
            <a:avLst/>
          </a:prstGeom>
          <a:noFill/>
          <a:ln/>
        </p:spPr>
        <p:txBody>
          <a:bodyPr wrap="square" lIns="0" tIns="0" rIns="0" bIns="0" rtlCol="0" anchor="ctr"/>
          <a:lstStyle/>
          <a:p>
            <a:pPr marL="0" indent="0">
              <a:buNone/>
            </a:pPr>
            <a:r>
              <a:rPr lang="en-US" sz="1300" dirty="0">
                <a:solidFill>
                  <a:srgbClr val="1F2933"/>
                </a:solidFill>
              </a:rPr>
              <a:t>Header has a leading space; amounts are clean, range $372 to $79,933</a:t>
            </a:r>
            <a:endParaRPr lang="en-US" sz="1300" dirty="0"/>
          </a:p>
        </p:txBody>
      </p:sp>
      <p:sp>
        <p:nvSpPr>
          <p:cNvPr id="17" name="Text 14"/>
          <p:cNvSpPr txBox="1"/>
          <p:nvPr/>
        </p:nvSpPr>
        <p:spPr>
          <a:xfrm>
            <a:off x="457200" y="3438144"/>
            <a:ext cx="1554480" cy="347472"/>
          </a:xfrm>
          <a:prstGeom prst="rect">
            <a:avLst/>
          </a:prstGeom>
          <a:noFill/>
          <a:ln/>
        </p:spPr>
        <p:txBody>
          <a:bodyPr wrap="square" lIns="0" tIns="0" rIns="0" bIns="0" rtlCol="0" anchor="ctr"/>
          <a:lstStyle/>
          <a:p>
            <a:pPr marL="0" indent="0">
              <a:buNone/>
            </a:pPr>
            <a:r>
              <a:rPr lang="en-US" sz="1300" b="1" dirty="0">
                <a:solidFill>
                  <a:srgbClr val="0B3C49"/>
                </a:solidFill>
              </a:rPr>
              <a:t>Age groups</a:t>
            </a:r>
            <a:endParaRPr lang="en-US" sz="1300" dirty="0"/>
          </a:p>
        </p:txBody>
      </p:sp>
      <p:sp>
        <p:nvSpPr>
          <p:cNvPr id="18" name="Text 15"/>
          <p:cNvSpPr txBox="1"/>
          <p:nvPr/>
        </p:nvSpPr>
        <p:spPr>
          <a:xfrm>
            <a:off x="2057400" y="3438144"/>
            <a:ext cx="6629400" cy="347472"/>
          </a:xfrm>
          <a:prstGeom prst="rect">
            <a:avLst/>
          </a:prstGeom>
          <a:noFill/>
          <a:ln/>
        </p:spPr>
        <p:txBody>
          <a:bodyPr wrap="square" lIns="0" tIns="0" rIns="0" bIns="0" rtlCol="0" anchor="ctr"/>
          <a:lstStyle/>
          <a:p>
            <a:pPr marL="0" indent="0">
              <a:buNone/>
            </a:pPr>
            <a:r>
              <a:rPr lang="en-US" sz="1300" dirty="0">
                <a:solidFill>
                  <a:srgbClr val="1F2933"/>
                </a:solidFill>
              </a:rPr>
              <a:t>Rebuilt as 18-34, 35-59, 60+; "young" label was inconsistent</a:t>
            </a:r>
            <a:endParaRPr lang="en-US" sz="1300" dirty="0"/>
          </a:p>
        </p:txBody>
      </p:sp>
      <p:sp>
        <p:nvSpPr>
          <p:cNvPr id="19" name="Text 16"/>
          <p:cNvSpPr txBox="1"/>
          <p:nvPr/>
        </p:nvSpPr>
        <p:spPr>
          <a:xfrm>
            <a:off x="457200" y="3831336"/>
            <a:ext cx="1554480" cy="347472"/>
          </a:xfrm>
          <a:prstGeom prst="rect">
            <a:avLst/>
          </a:prstGeom>
          <a:noFill/>
          <a:ln/>
        </p:spPr>
        <p:txBody>
          <a:bodyPr wrap="square" lIns="0" tIns="0" rIns="0" bIns="0" rtlCol="0" anchor="ctr"/>
          <a:lstStyle/>
          <a:p>
            <a:pPr marL="0" indent="0">
              <a:buNone/>
            </a:pPr>
            <a:r>
              <a:rPr lang="en-US" sz="1300" b="1" dirty="0">
                <a:solidFill>
                  <a:srgbClr val="0B3C49"/>
                </a:solidFill>
              </a:rPr>
              <a:t>Coverage</a:t>
            </a:r>
            <a:endParaRPr lang="en-US" sz="1300" dirty="0"/>
          </a:p>
        </p:txBody>
      </p:sp>
      <p:sp>
        <p:nvSpPr>
          <p:cNvPr id="20" name="Text 17"/>
          <p:cNvSpPr txBox="1"/>
          <p:nvPr/>
        </p:nvSpPr>
        <p:spPr>
          <a:xfrm>
            <a:off x="2057400" y="3831336"/>
            <a:ext cx="6629400" cy="347472"/>
          </a:xfrm>
          <a:prstGeom prst="rect">
            <a:avLst/>
          </a:prstGeom>
          <a:noFill/>
          <a:ln/>
        </p:spPr>
        <p:txBody>
          <a:bodyPr wrap="square" lIns="0" tIns="0" rIns="0" bIns="0" rtlCol="0" anchor="ctr"/>
          <a:lstStyle/>
          <a:p>
            <a:pPr marL="0" indent="0">
              <a:buNone/>
            </a:pPr>
            <a:r>
              <a:rPr lang="en-US" sz="1300" dirty="0">
                <a:solidFill>
                  <a:srgbClr val="1F2933"/>
                </a:solidFill>
              </a:rPr>
              <a:t>2018 (303) and 2023 (1,616) are partial years; 2019-2022 hold about 2,000 each</a:t>
            </a:r>
            <a:endParaRPr lang="en-US" sz="1300" dirty="0"/>
          </a:p>
        </p:txBody>
      </p:sp>
      <p:sp>
        <p:nvSpPr>
          <p:cNvPr id="21" name="Text 18"/>
          <p:cNvSpPr txBox="1"/>
          <p:nvPr/>
        </p:nvSpPr>
        <p:spPr>
          <a:xfrm>
            <a:off x="457200" y="4224528"/>
            <a:ext cx="1554480" cy="347472"/>
          </a:xfrm>
          <a:prstGeom prst="rect">
            <a:avLst/>
          </a:prstGeom>
          <a:noFill/>
          <a:ln/>
        </p:spPr>
        <p:txBody>
          <a:bodyPr wrap="square" lIns="0" tIns="0" rIns="0" bIns="0" rtlCol="0" anchor="ctr"/>
          <a:lstStyle/>
          <a:p>
            <a:pPr marL="0" indent="0">
              <a:buNone/>
            </a:pPr>
            <a:r>
              <a:rPr lang="en-US" sz="1300" b="1" dirty="0">
                <a:solidFill>
                  <a:srgbClr val="0B3C49"/>
                </a:solidFill>
              </a:rPr>
              <a:t>Privacy</a:t>
            </a:r>
            <a:endParaRPr lang="en-US" sz="1300" dirty="0"/>
          </a:p>
        </p:txBody>
      </p:sp>
      <p:sp>
        <p:nvSpPr>
          <p:cNvPr id="22" name="Text 19"/>
          <p:cNvSpPr txBox="1"/>
          <p:nvPr/>
        </p:nvSpPr>
        <p:spPr>
          <a:xfrm>
            <a:off x="2057400" y="4224528"/>
            <a:ext cx="6629400" cy="347472"/>
          </a:xfrm>
          <a:prstGeom prst="rect">
            <a:avLst/>
          </a:prstGeom>
          <a:noFill/>
          <a:ln/>
        </p:spPr>
        <p:txBody>
          <a:bodyPr wrap="square" lIns="0" tIns="0" rIns="0" bIns="0" rtlCol="0" anchor="ctr"/>
          <a:lstStyle/>
          <a:p>
            <a:pPr marL="0" indent="0">
              <a:buNone/>
            </a:pPr>
            <a:r>
              <a:rPr lang="en-US" sz="1300" dirty="0">
                <a:solidFill>
                  <a:srgbClr val="1F2933"/>
                </a:solidFill>
              </a:rPr>
              <a:t>Patient names and doctors are dropped from the shared dataset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Hypertension is the largest group; patients are balanced by gender and weighted to over-35s</a:t>
            </a:r>
            <a:endParaRPr lang="en-US" sz="2600" u="sng" dirty="0"/>
          </a:p>
        </p:txBody>
      </p:sp>
      <p:graphicFrame>
        <p:nvGraphicFramePr>
          <p:cNvPr id="4" name="Chart 0"/>
          <p:cNvGraphicFramePr/>
          <p:nvPr>
            <p:extLst>
              <p:ext uri="{D42A27DB-BD31-4B8C-83A1-F6EECF244321}">
                <p14:modId xmlns:p14="http://schemas.microsoft.com/office/powerpoint/2010/main" val="1830948228"/>
              </p:ext>
            </p:extLst>
          </p:nvPr>
        </p:nvGraphicFramePr>
        <p:xfrm>
          <a:off x="457200" y="1188720"/>
          <a:ext cx="512064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5943600" y="1234440"/>
            <a:ext cx="2743200" cy="1188720"/>
          </a:xfrm>
          <a:prstGeom prst="roundRect">
            <a:avLst>
              <a:gd name="adj" fmla="val 9231"/>
            </a:avLst>
          </a:prstGeom>
          <a:solidFill>
            <a:srgbClr val="F3F7F8"/>
          </a:solidFill>
          <a:ln w="12700">
            <a:solidFill>
              <a:srgbClr val="F3F7F8"/>
            </a:solidFill>
            <a:prstDash val="solid"/>
          </a:ln>
        </p:spPr>
      </p:sp>
      <p:sp>
        <p:nvSpPr>
          <p:cNvPr id="6" name="Text 2"/>
          <p:cNvSpPr txBox="1"/>
          <p:nvPr/>
        </p:nvSpPr>
        <p:spPr>
          <a:xfrm>
            <a:off x="6080760" y="1325880"/>
            <a:ext cx="2468880" cy="640080"/>
          </a:xfrm>
          <a:prstGeom prst="rect">
            <a:avLst/>
          </a:prstGeom>
          <a:noFill/>
          <a:ln/>
        </p:spPr>
        <p:txBody>
          <a:bodyPr wrap="square" lIns="0" tIns="0" rIns="0" bIns="0" rtlCol="0" anchor="ctr"/>
          <a:lstStyle/>
          <a:p>
            <a:pPr marL="0" indent="0">
              <a:buNone/>
            </a:pPr>
            <a:r>
              <a:rPr lang="en-US" sz="2000" b="1" dirty="0">
                <a:solidFill>
                  <a:srgbClr val="1B7F8C"/>
                </a:solidFill>
                <a:latin typeface="Cambria" pitchFamily="34" charset="0"/>
                <a:ea typeface="Cambria" pitchFamily="34" charset="-122"/>
                <a:cs typeface="Cambria" pitchFamily="34" charset="-120"/>
              </a:rPr>
              <a:t>50.8% / 49.2%</a:t>
            </a:r>
            <a:endParaRPr lang="en-US" sz="2000" dirty="0"/>
          </a:p>
        </p:txBody>
      </p:sp>
      <p:sp>
        <p:nvSpPr>
          <p:cNvPr id="7" name="Text 3"/>
          <p:cNvSpPr txBox="1"/>
          <p:nvPr/>
        </p:nvSpPr>
        <p:spPr>
          <a:xfrm>
            <a:off x="6080760" y="1965960"/>
            <a:ext cx="2468880" cy="384048"/>
          </a:xfrm>
          <a:prstGeom prst="rect">
            <a:avLst/>
          </a:prstGeom>
          <a:noFill/>
          <a:ln/>
        </p:spPr>
        <p:txBody>
          <a:bodyPr wrap="square" lIns="0" tIns="0" rIns="0" bIns="0" rtlCol="0" anchor="t"/>
          <a:lstStyle/>
          <a:p>
            <a:pPr marL="0" indent="0">
              <a:buNone/>
            </a:pPr>
            <a:r>
              <a:rPr lang="en-US" sz="1200" dirty="0">
                <a:solidFill>
                  <a:srgbClr val="1F2933"/>
                </a:solidFill>
              </a:rPr>
              <a:t>female / male patients</a:t>
            </a:r>
            <a:endParaRPr lang="en-US" sz="1200" dirty="0"/>
          </a:p>
        </p:txBody>
      </p:sp>
      <p:sp>
        <p:nvSpPr>
          <p:cNvPr id="8" name="Shape 4"/>
          <p:cNvSpPr/>
          <p:nvPr/>
        </p:nvSpPr>
        <p:spPr>
          <a:xfrm>
            <a:off x="5943600" y="2560320"/>
            <a:ext cx="2743200" cy="1188720"/>
          </a:xfrm>
          <a:prstGeom prst="roundRect">
            <a:avLst>
              <a:gd name="adj" fmla="val 9231"/>
            </a:avLst>
          </a:prstGeom>
          <a:solidFill>
            <a:srgbClr val="F3F7F8"/>
          </a:solidFill>
          <a:ln w="12700">
            <a:solidFill>
              <a:srgbClr val="F3F7F8"/>
            </a:solidFill>
            <a:prstDash val="solid"/>
          </a:ln>
        </p:spPr>
      </p:sp>
      <p:sp>
        <p:nvSpPr>
          <p:cNvPr id="9" name="Text 5"/>
          <p:cNvSpPr txBox="1"/>
          <p:nvPr/>
        </p:nvSpPr>
        <p:spPr>
          <a:xfrm>
            <a:off x="6080760" y="2651760"/>
            <a:ext cx="246888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75.2%</a:t>
            </a:r>
            <a:endParaRPr lang="en-US" sz="3400" dirty="0"/>
          </a:p>
        </p:txBody>
      </p:sp>
      <p:sp>
        <p:nvSpPr>
          <p:cNvPr id="10" name="Text 6"/>
          <p:cNvSpPr txBox="1"/>
          <p:nvPr/>
        </p:nvSpPr>
        <p:spPr>
          <a:xfrm>
            <a:off x="6080760" y="3291840"/>
            <a:ext cx="2468880" cy="384048"/>
          </a:xfrm>
          <a:prstGeom prst="rect">
            <a:avLst/>
          </a:prstGeom>
          <a:noFill/>
          <a:ln/>
        </p:spPr>
        <p:txBody>
          <a:bodyPr wrap="square" lIns="0" tIns="0" rIns="0" bIns="0" rtlCol="0" anchor="t"/>
          <a:lstStyle/>
          <a:p>
            <a:pPr marL="0" indent="0">
              <a:buNone/>
            </a:pPr>
            <a:r>
              <a:rPr lang="en-US" sz="1200" dirty="0">
                <a:solidFill>
                  <a:srgbClr val="1F2933"/>
                </a:solidFill>
              </a:rPr>
              <a:t>aged 35 or older (3,702 middle, 3,813 senior)</a:t>
            </a:r>
            <a:endParaRPr lang="en-US" sz="1200" dirty="0"/>
          </a:p>
        </p:txBody>
      </p:sp>
      <p:sp>
        <p:nvSpPr>
          <p:cNvPr id="11" name="Text 7"/>
          <p:cNvSpPr txBox="1"/>
          <p:nvPr/>
        </p:nvSpPr>
        <p:spPr>
          <a:xfrm>
            <a:off x="5943600" y="3886200"/>
            <a:ext cx="2743200" cy="365760"/>
          </a:xfrm>
          <a:prstGeom prst="rect">
            <a:avLst/>
          </a:prstGeom>
          <a:noFill/>
          <a:ln/>
        </p:spPr>
        <p:txBody>
          <a:bodyPr wrap="square" lIns="0" tIns="0" rIns="0" bIns="0" rtlCol="0" anchor="ctr"/>
          <a:lstStyle/>
          <a:p>
            <a:pPr marL="0" indent="0">
              <a:buNone/>
            </a:pPr>
            <a:r>
              <a:rPr lang="en-US" sz="1100" dirty="0">
                <a:solidFill>
                  <a:srgbClr val="5B6B76"/>
                </a:solidFill>
              </a:rPr>
              <a:t>Young = 18-34, Middle = 35-59, Senior = 60+</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Young patients skew to asthma; older patients skew to arthritis and cancer</a:t>
            </a:r>
            <a:endParaRPr lang="en-US" sz="2600" u="sng" dirty="0"/>
          </a:p>
        </p:txBody>
      </p:sp>
      <p:graphicFrame>
        <p:nvGraphicFramePr>
          <p:cNvPr id="4" name="Chart 0"/>
          <p:cNvGraphicFramePr/>
          <p:nvPr>
            <p:extLst>
              <p:ext uri="{D42A27DB-BD31-4B8C-83A1-F6EECF244321}">
                <p14:modId xmlns:p14="http://schemas.microsoft.com/office/powerpoint/2010/main" val="2614067024"/>
              </p:ext>
            </p:extLst>
          </p:nvPr>
        </p:nvGraphicFramePr>
        <p:xfrm>
          <a:off x="457200" y="1188720"/>
          <a:ext cx="576072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6492240" y="1234440"/>
            <a:ext cx="2194560" cy="3291840"/>
          </a:xfrm>
          <a:prstGeom prst="roundRect">
            <a:avLst>
              <a:gd name="adj" fmla="val 5000"/>
            </a:avLst>
          </a:prstGeom>
          <a:solidFill>
            <a:srgbClr val="F3F7F8"/>
          </a:solidFill>
          <a:ln w="12700">
            <a:solidFill>
              <a:srgbClr val="F3F7F8"/>
            </a:solidFill>
            <a:prstDash val="solid"/>
          </a:ln>
        </p:spPr>
      </p:sp>
      <p:sp>
        <p:nvSpPr>
          <p:cNvPr id="6" name="Text 2"/>
          <p:cNvSpPr txBox="1"/>
          <p:nvPr/>
        </p:nvSpPr>
        <p:spPr>
          <a:xfrm>
            <a:off x="6629400" y="1371600"/>
            <a:ext cx="1920240" cy="3017520"/>
          </a:xfrm>
          <a:prstGeom prst="rect">
            <a:avLst/>
          </a:prstGeom>
          <a:noFill/>
          <a:ln/>
        </p:spPr>
        <p:txBody>
          <a:bodyPr wrap="square" lIns="0" tIns="0" rIns="0" bIns="0" rtlCol="0" anchor="t"/>
          <a:lstStyle/>
          <a:p>
            <a:pPr marL="0" indent="0">
              <a:buNone/>
            </a:pPr>
            <a:r>
              <a:rPr lang="en-US" sz="1500" b="1" dirty="0">
                <a:solidFill>
                  <a:srgbClr val="0B3C49"/>
                </a:solidFill>
              </a:rPr>
              <a:t>Gender skews</a:t>
            </a:r>
            <a:endParaRPr lang="en-US" sz="1500" dirty="0"/>
          </a:p>
          <a:p>
            <a:pPr marL="0" indent="0">
              <a:spcBef>
                <a:spcPts val="800"/>
              </a:spcBef>
              <a:buNone/>
            </a:pPr>
            <a:r>
              <a:rPr lang="en-US" sz="1300" dirty="0">
                <a:solidFill>
                  <a:srgbClr val="1F2933"/>
                </a:solidFill>
              </a:rPr>
              <a:t>Hypertension: 61% male</a:t>
            </a:r>
            <a:endParaRPr lang="en-US" sz="1500" dirty="0"/>
          </a:p>
          <a:p>
            <a:pPr marL="0" indent="0">
              <a:spcBef>
                <a:spcPts val="600"/>
              </a:spcBef>
              <a:buNone/>
            </a:pPr>
            <a:r>
              <a:rPr lang="en-US" sz="1300" dirty="0">
                <a:solidFill>
                  <a:srgbClr val="1F2933"/>
                </a:solidFill>
              </a:rPr>
              <a:t>Obesity: 62% female</a:t>
            </a:r>
            <a:endParaRPr lang="en-US" sz="1500" dirty="0"/>
          </a:p>
          <a:p>
            <a:pPr marL="0" indent="0">
              <a:spcBef>
                <a:spcPts val="600"/>
              </a:spcBef>
              <a:buNone/>
            </a:pPr>
            <a:r>
              <a:rPr lang="en-US" sz="1300" dirty="0">
                <a:solidFill>
                  <a:srgbClr val="1F2933"/>
                </a:solidFill>
              </a:rPr>
              <a:t>Diabetes: 58% female</a:t>
            </a:r>
            <a:endParaRPr lang="en-US" sz="1500" dirty="0"/>
          </a:p>
          <a:p>
            <a:pPr marL="0" indent="0">
              <a:spcBef>
                <a:spcPts val="1000"/>
              </a:spcBef>
              <a:buNone/>
            </a:pPr>
            <a:r>
              <a:rPr lang="en-US" sz="1200" dirty="0">
                <a:solidFill>
                  <a:srgbClr val="5B6B76"/>
                </a:solidFill>
              </a:rPr>
              <a:t>Other conditions are within 3 points of 50/50.</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Arthritis and obesity are mostly planned; diabetes, hypertension and asthma arrive unplanned</a:t>
            </a:r>
            <a:endParaRPr lang="en-US" sz="2600" u="sng" dirty="0"/>
          </a:p>
        </p:txBody>
      </p:sp>
      <p:graphicFrame>
        <p:nvGraphicFramePr>
          <p:cNvPr id="4" name="Chart 0"/>
          <p:cNvGraphicFramePr/>
          <p:nvPr/>
        </p:nvGraphicFramePr>
        <p:xfrm>
          <a:off x="457200" y="1188720"/>
          <a:ext cx="82296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Condition is the biggest cost driver: cancer bills 3.2x obesity</a:t>
            </a:r>
            <a:endParaRPr lang="en-US" sz="2600" u="sng" dirty="0"/>
          </a:p>
        </p:txBody>
      </p:sp>
      <p:graphicFrame>
        <p:nvGraphicFramePr>
          <p:cNvPr id="4" name="Chart 0"/>
          <p:cNvGraphicFramePr/>
          <p:nvPr>
            <p:extLst>
              <p:ext uri="{D42A27DB-BD31-4B8C-83A1-F6EECF244321}">
                <p14:modId xmlns:p14="http://schemas.microsoft.com/office/powerpoint/2010/main" val="601519601"/>
              </p:ext>
            </p:extLst>
          </p:nvPr>
        </p:nvGraphicFramePr>
        <p:xfrm>
          <a:off x="457200" y="1188720"/>
          <a:ext cx="56692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6400800" y="1234440"/>
            <a:ext cx="2286000" cy="1188720"/>
          </a:xfrm>
          <a:prstGeom prst="roundRect">
            <a:avLst>
              <a:gd name="adj" fmla="val 9231"/>
            </a:avLst>
          </a:prstGeom>
          <a:solidFill>
            <a:srgbClr val="F3F7F8"/>
          </a:solidFill>
          <a:ln w="12700">
            <a:solidFill>
              <a:srgbClr val="F3F7F8"/>
            </a:solidFill>
            <a:prstDash val="solid"/>
          </a:ln>
        </p:spPr>
      </p:sp>
      <p:sp>
        <p:nvSpPr>
          <p:cNvPr id="6" name="Text 2"/>
          <p:cNvSpPr txBox="1"/>
          <p:nvPr/>
        </p:nvSpPr>
        <p:spPr>
          <a:xfrm>
            <a:off x="6537960" y="1325880"/>
            <a:ext cx="2011680" cy="640080"/>
          </a:xfrm>
          <a:prstGeom prst="rect">
            <a:avLst/>
          </a:prstGeom>
          <a:noFill/>
          <a:ln/>
        </p:spPr>
        <p:txBody>
          <a:bodyPr wrap="square" lIns="0" tIns="0" rIns="0" bIns="0" rtlCol="0" anchor="ctr"/>
          <a:lstStyle/>
          <a:p>
            <a:pPr marL="0" indent="0">
              <a:buNone/>
            </a:pPr>
            <a:r>
              <a:rPr lang="en-US" sz="3400" b="1" dirty="0">
                <a:solidFill>
                  <a:srgbClr val="E4572E"/>
                </a:solidFill>
                <a:latin typeface="Cambria" pitchFamily="34" charset="0"/>
                <a:ea typeface="Cambria" pitchFamily="34" charset="-122"/>
                <a:cs typeface="Cambria" pitchFamily="34" charset="-120"/>
              </a:rPr>
              <a:t>3.2x</a:t>
            </a:r>
            <a:endParaRPr lang="en-US" sz="3400" dirty="0"/>
          </a:p>
        </p:txBody>
      </p:sp>
      <p:sp>
        <p:nvSpPr>
          <p:cNvPr id="7" name="Text 3"/>
          <p:cNvSpPr txBox="1"/>
          <p:nvPr/>
        </p:nvSpPr>
        <p:spPr>
          <a:xfrm>
            <a:off x="6537960" y="1965960"/>
            <a:ext cx="2011680" cy="384048"/>
          </a:xfrm>
          <a:prstGeom prst="rect">
            <a:avLst/>
          </a:prstGeom>
          <a:noFill/>
          <a:ln/>
        </p:spPr>
        <p:txBody>
          <a:bodyPr wrap="square" lIns="0" tIns="0" rIns="0" bIns="0" rtlCol="0" anchor="t"/>
          <a:lstStyle/>
          <a:p>
            <a:pPr marL="0" indent="0">
              <a:buNone/>
            </a:pPr>
            <a:r>
              <a:rPr lang="en-US" sz="1200" dirty="0">
                <a:solidFill>
                  <a:srgbClr val="1F2933"/>
                </a:solidFill>
              </a:rPr>
              <a:t>cancer vs obesity average bill</a:t>
            </a:r>
            <a:endParaRPr lang="en-US" sz="1200" dirty="0"/>
          </a:p>
        </p:txBody>
      </p:sp>
      <p:sp>
        <p:nvSpPr>
          <p:cNvPr id="8" name="Shape 4"/>
          <p:cNvSpPr/>
          <p:nvPr/>
        </p:nvSpPr>
        <p:spPr>
          <a:xfrm>
            <a:off x="6400800" y="2560320"/>
            <a:ext cx="2286000" cy="1188720"/>
          </a:xfrm>
          <a:prstGeom prst="roundRect">
            <a:avLst>
              <a:gd name="adj" fmla="val 9231"/>
            </a:avLst>
          </a:prstGeom>
          <a:solidFill>
            <a:srgbClr val="F3F7F8"/>
          </a:solidFill>
          <a:ln w="12700">
            <a:solidFill>
              <a:srgbClr val="F3F7F8"/>
            </a:solidFill>
            <a:prstDash val="solid"/>
          </a:ln>
        </p:spPr>
      </p:sp>
      <p:sp>
        <p:nvSpPr>
          <p:cNvPr id="9" name="Text 5"/>
          <p:cNvSpPr txBox="1"/>
          <p:nvPr/>
        </p:nvSpPr>
        <p:spPr>
          <a:xfrm>
            <a:off x="6537960" y="2651760"/>
            <a:ext cx="2011680" cy="640080"/>
          </a:xfrm>
          <a:prstGeom prst="rect">
            <a:avLst/>
          </a:prstGeom>
          <a:noFill/>
          <a:ln/>
        </p:spPr>
        <p:txBody>
          <a:bodyPr wrap="square" lIns="0" tIns="0" rIns="0" bIns="0" rtlCol="0" anchor="ctr"/>
          <a:lstStyle/>
          <a:p>
            <a:pPr marL="0" indent="0">
              <a:buNone/>
            </a:pPr>
            <a:r>
              <a:rPr lang="en-US" sz="2000" b="1" dirty="0">
                <a:solidFill>
                  <a:srgbClr val="1B7F8C"/>
                </a:solidFill>
                <a:latin typeface="Cambria" pitchFamily="34" charset="0"/>
                <a:ea typeface="Cambria" pitchFamily="34" charset="-122"/>
                <a:cs typeface="Cambria" pitchFamily="34" charset="-120"/>
              </a:rPr>
              <a:t>13.2 vs 15.1</a:t>
            </a:r>
            <a:endParaRPr lang="en-US" sz="2000" dirty="0"/>
          </a:p>
        </p:txBody>
      </p:sp>
      <p:sp>
        <p:nvSpPr>
          <p:cNvPr id="10" name="Text 6"/>
          <p:cNvSpPr txBox="1"/>
          <p:nvPr/>
        </p:nvSpPr>
        <p:spPr>
          <a:xfrm>
            <a:off x="6537960" y="3291840"/>
            <a:ext cx="2011680" cy="384048"/>
          </a:xfrm>
          <a:prstGeom prst="rect">
            <a:avLst/>
          </a:prstGeom>
          <a:noFill/>
          <a:ln/>
        </p:spPr>
        <p:txBody>
          <a:bodyPr wrap="square" lIns="0" tIns="0" rIns="0" bIns="0" rtlCol="0" anchor="t"/>
          <a:lstStyle/>
          <a:p>
            <a:pPr marL="0" indent="0">
              <a:buNone/>
            </a:pPr>
            <a:r>
              <a:rPr lang="en-US" sz="1200" dirty="0">
                <a:solidFill>
                  <a:srgbClr val="1F2933"/>
                </a:solidFill>
              </a:rPr>
              <a:t>days: cancer vs diabetes stay, yet cancer bills 32% more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Elective stays are 5 days shorter, yet cost almost the same as unplanned ones</a:t>
            </a:r>
            <a:endParaRPr lang="en-US" sz="2600" u="sng" dirty="0"/>
          </a:p>
        </p:txBody>
      </p:sp>
      <p:graphicFrame>
        <p:nvGraphicFramePr>
          <p:cNvPr id="4" name="Chart 0"/>
          <p:cNvGraphicFramePr/>
          <p:nvPr>
            <p:extLst>
              <p:ext uri="{D42A27DB-BD31-4B8C-83A1-F6EECF244321}">
                <p14:modId xmlns:p14="http://schemas.microsoft.com/office/powerpoint/2010/main" val="1329452422"/>
              </p:ext>
            </p:extLst>
          </p:nvPr>
        </p:nvGraphicFramePr>
        <p:xfrm>
          <a:off x="457200" y="1188720"/>
          <a:ext cx="402336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2647115375"/>
              </p:ext>
            </p:extLst>
          </p:nvPr>
        </p:nvGraphicFramePr>
        <p:xfrm>
          <a:off x="4663440" y="1188720"/>
          <a:ext cx="40233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1"/>
          <p:cNvSpPr/>
          <p:nvPr/>
        </p:nvSpPr>
        <p:spPr>
          <a:xfrm>
            <a:off x="457200" y="4023360"/>
            <a:ext cx="8229600" cy="594360"/>
          </a:xfrm>
          <a:prstGeom prst="roundRect">
            <a:avLst>
              <a:gd name="adj" fmla="val 18462"/>
            </a:avLst>
          </a:prstGeom>
          <a:solidFill>
            <a:srgbClr val="F3F7F8"/>
          </a:solidFill>
          <a:ln w="12700">
            <a:solidFill>
              <a:srgbClr val="F3F7F8"/>
            </a:solidFill>
            <a:prstDash val="solid"/>
          </a:ln>
        </p:spPr>
      </p:sp>
      <p:sp>
        <p:nvSpPr>
          <p:cNvPr id="7" name="Text 2"/>
          <p:cNvSpPr txBox="1"/>
          <p:nvPr/>
        </p:nvSpPr>
        <p:spPr>
          <a:xfrm>
            <a:off x="640080" y="4023360"/>
            <a:ext cx="7863840" cy="594360"/>
          </a:xfrm>
          <a:prstGeom prst="rect">
            <a:avLst/>
          </a:prstGeom>
          <a:noFill/>
          <a:ln/>
        </p:spPr>
        <p:txBody>
          <a:bodyPr wrap="square" lIns="0" tIns="0" rIns="0" bIns="0" rtlCol="0" anchor="ctr"/>
          <a:lstStyle/>
          <a:p>
            <a:pPr marL="0" indent="0">
              <a:buNone/>
            </a:pPr>
            <a:r>
              <a:rPr lang="en-US" sz="1400" b="1" dirty="0">
                <a:solidFill>
                  <a:srgbClr val="0B3C49"/>
                </a:solidFill>
              </a:rPr>
              <a:t>Billing per day of stay: </a:t>
            </a:r>
            <a:r>
              <a:rPr lang="en-US" sz="1400" dirty="0">
                <a:solidFill>
                  <a:srgbClr val="1F2933"/>
                </a:solidFill>
              </a:rPr>
              <a:t>Elective $2,311   |   Urgent $1,474   |   Emergency $1,554</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Insurers differ by only about 6% overall, so compare them by condition</a:t>
            </a:r>
            <a:endParaRPr lang="en-US" sz="2600" u="sng" dirty="0"/>
          </a:p>
        </p:txBody>
      </p:sp>
      <p:graphicFrame>
        <p:nvGraphicFramePr>
          <p:cNvPr id="4" name="Chart 0"/>
          <p:cNvGraphicFramePr/>
          <p:nvPr>
            <p:extLst>
              <p:ext uri="{D42A27DB-BD31-4B8C-83A1-F6EECF244321}">
                <p14:modId xmlns:p14="http://schemas.microsoft.com/office/powerpoint/2010/main" val="2960272315"/>
              </p:ext>
            </p:extLst>
          </p:nvPr>
        </p:nvGraphicFramePr>
        <p:xfrm>
          <a:off x="457200" y="1188720"/>
          <a:ext cx="56692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6400800" y="1234440"/>
            <a:ext cx="2286000" cy="1188720"/>
          </a:xfrm>
          <a:prstGeom prst="roundRect">
            <a:avLst>
              <a:gd name="adj" fmla="val 9231"/>
            </a:avLst>
          </a:prstGeom>
          <a:solidFill>
            <a:srgbClr val="F3F7F8"/>
          </a:solidFill>
          <a:ln w="12700">
            <a:solidFill>
              <a:srgbClr val="F3F7F8"/>
            </a:solidFill>
            <a:prstDash val="solid"/>
          </a:ln>
        </p:spPr>
      </p:sp>
      <p:sp>
        <p:nvSpPr>
          <p:cNvPr id="6" name="Text 2"/>
          <p:cNvSpPr txBox="1"/>
          <p:nvPr/>
        </p:nvSpPr>
        <p:spPr>
          <a:xfrm>
            <a:off x="6537960" y="1325880"/>
            <a:ext cx="201168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6.4%</a:t>
            </a:r>
            <a:endParaRPr lang="en-US" sz="3400" dirty="0"/>
          </a:p>
        </p:txBody>
      </p:sp>
      <p:sp>
        <p:nvSpPr>
          <p:cNvPr id="7" name="Text 3"/>
          <p:cNvSpPr txBox="1"/>
          <p:nvPr/>
        </p:nvSpPr>
        <p:spPr>
          <a:xfrm>
            <a:off x="6537960" y="1965960"/>
            <a:ext cx="2011680" cy="384048"/>
          </a:xfrm>
          <a:prstGeom prst="rect">
            <a:avLst/>
          </a:prstGeom>
          <a:noFill/>
          <a:ln/>
        </p:spPr>
        <p:txBody>
          <a:bodyPr wrap="square" lIns="0" tIns="0" rIns="0" bIns="0" rtlCol="0" anchor="t"/>
          <a:lstStyle/>
          <a:p>
            <a:pPr marL="0" indent="0">
              <a:buNone/>
            </a:pPr>
            <a:r>
              <a:rPr lang="en-US" sz="1200" dirty="0">
                <a:solidFill>
                  <a:srgbClr val="1F2933"/>
                </a:solidFill>
              </a:rPr>
              <a:t>gap between highest (Cigna) and lowest (Blue Cross)</a:t>
            </a:r>
            <a:endParaRPr lang="en-US" sz="1200" dirty="0"/>
          </a:p>
        </p:txBody>
      </p:sp>
      <p:sp>
        <p:nvSpPr>
          <p:cNvPr id="8" name="Shape 4"/>
          <p:cNvSpPr/>
          <p:nvPr/>
        </p:nvSpPr>
        <p:spPr>
          <a:xfrm>
            <a:off x="6400800" y="2560320"/>
            <a:ext cx="2286000" cy="1188720"/>
          </a:xfrm>
          <a:prstGeom prst="roundRect">
            <a:avLst>
              <a:gd name="adj" fmla="val 9231"/>
            </a:avLst>
          </a:prstGeom>
          <a:solidFill>
            <a:srgbClr val="F3F7F8"/>
          </a:solidFill>
          <a:ln w="12700">
            <a:solidFill>
              <a:srgbClr val="F3F7F8"/>
            </a:solidFill>
            <a:prstDash val="solid"/>
          </a:ln>
        </p:spPr>
      </p:sp>
      <p:sp>
        <p:nvSpPr>
          <p:cNvPr id="9" name="Text 5"/>
          <p:cNvSpPr txBox="1"/>
          <p:nvPr/>
        </p:nvSpPr>
        <p:spPr>
          <a:xfrm>
            <a:off x="6537960" y="2651760"/>
            <a:ext cx="201168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2,428</a:t>
            </a:r>
            <a:endParaRPr lang="en-US" sz="3400" dirty="0"/>
          </a:p>
        </p:txBody>
      </p:sp>
      <p:sp>
        <p:nvSpPr>
          <p:cNvPr id="10" name="Text 6"/>
          <p:cNvSpPr txBox="1"/>
          <p:nvPr/>
        </p:nvSpPr>
        <p:spPr>
          <a:xfrm>
            <a:off x="6537960" y="3291840"/>
            <a:ext cx="2011680" cy="384048"/>
          </a:xfrm>
          <a:prstGeom prst="rect">
            <a:avLst/>
          </a:prstGeom>
          <a:noFill/>
          <a:ln/>
        </p:spPr>
        <p:txBody>
          <a:bodyPr wrap="square" lIns="0" tIns="0" rIns="0" bIns="0" rtlCol="0" anchor="t"/>
          <a:lstStyle/>
          <a:p>
            <a:pPr marL="0" indent="0">
              <a:buNone/>
            </a:pPr>
            <a:r>
              <a:rPr lang="en-US" sz="1200" dirty="0">
                <a:solidFill>
                  <a:srgbClr val="1F2933"/>
                </a:solidFill>
              </a:rPr>
              <a:t>Medicare admissions, the largest insurer group</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By condition the gaps widen: cancer varies 19% and diabetes 29% across insurers</a:t>
            </a:r>
            <a:endParaRPr lang="en-US" sz="2600" u="sng"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743200"/>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Provider</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Arthritis</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Asthma</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Cancer</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Diabetes</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Hypertension</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Obesity</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Aetna</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$19,636</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$22,090</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$41,587</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$31,795</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$18,074</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$13,138</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Blue Cross</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$20,322</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$23,012</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$37,814</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$32,153</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9C9BB"/>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$18,644</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9C9BB"/>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$10,076</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BFE6DF"/>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Cigna</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$19,607</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BFE6DF"/>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$23,827</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9C9BB"/>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$43,061</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9C9BB"/>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$30,504</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$17,441</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$13,268</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Medicare</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$19,783</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$22,237</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$36,053</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BFE6D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$30,872</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$17,114</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BFE6D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$13,105</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Unitedhealthcare</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$21,073</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9C9BB"/>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$21,873</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BFE6D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$40,835</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$24,832</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BFE6DF"/>
                    </a:solidFill>
                  </a:tcPr>
                </a:tc>
                <a:tc>
                  <a:txBody>
                    <a:bodyPr/>
                    <a:lstStyle/>
                    <a:p>
                      <a:pPr marL="0" indent="0" algn="ctr">
                        <a:buNone/>
                      </a:pPr>
                      <a:r>
                        <a:rPr lang="en-US" sz="1200" dirty="0">
                          <a:solidFill>
                            <a:srgbClr val="1F2933"/>
                          </a:solidFill>
                          <a:latin typeface="Calibri" pitchFamily="34" charset="0"/>
                          <a:ea typeface="Calibri" pitchFamily="34" charset="-122"/>
                          <a:cs typeface="Calibri" pitchFamily="34" charset="-120"/>
                        </a:rPr>
                        <a:t>$17,168</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2933"/>
                          </a:solidFill>
                          <a:latin typeface="Calibri" pitchFamily="34" charset="0"/>
                          <a:ea typeface="Calibri" pitchFamily="34" charset="-122"/>
                          <a:cs typeface="Calibri" pitchFamily="34" charset="-120"/>
                        </a:rPr>
                        <a:t>$13,338</a:t>
                      </a:r>
                      <a:endParaRPr lang="en-US" sz="1200" dirty="0">
                        <a:latin typeface="Calibri" charset="0"/>
                        <a:ea typeface="Calibri" charset="0"/>
                        <a:cs typeface="Calibri" charset="0"/>
                      </a:endParaRPr>
                    </a:p>
                  </a:txBody>
                  <a:tcPr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9C9BB"/>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457200" y="4160520"/>
            <a:ext cx="8229600" cy="274320"/>
          </a:xfrm>
          <a:prstGeom prst="rect">
            <a:avLst/>
          </a:prstGeom>
          <a:noFill/>
          <a:ln/>
        </p:spPr>
        <p:txBody>
          <a:bodyPr wrap="square" lIns="0" tIns="0" rIns="0" bIns="0" rtlCol="0" anchor="ctr"/>
          <a:lstStyle/>
          <a:p>
            <a:pPr marL="0" indent="0">
              <a:buNone/>
            </a:pPr>
            <a:r>
              <a:rPr lang="en-US" sz="1100" dirty="0">
                <a:solidFill>
                  <a:srgbClr val="5B6B76"/>
                </a:solidFill>
              </a:rPr>
              <a:t>Coral = highest average in the column, green = lowest. Billed amounts, not patient out-of-pocket.</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u="sng" dirty="0">
                <a:solidFill>
                  <a:srgbClr val="0B3C49"/>
                </a:solidFill>
                <a:latin typeface="Cambria" pitchFamily="34" charset="0"/>
                <a:ea typeface="Cambria" pitchFamily="34" charset="-122"/>
                <a:cs typeface="Cambria" pitchFamily="34" charset="-120"/>
              </a:rPr>
              <a:t>What does not matter: age, gender, length of stay and test results</a:t>
            </a:r>
            <a:endParaRPr lang="en-US" sz="2600" u="sng" dirty="0"/>
          </a:p>
        </p:txBody>
      </p:sp>
      <p:sp>
        <p:nvSpPr>
          <p:cNvPr id="4" name="Shape 1"/>
          <p:cNvSpPr/>
          <p:nvPr/>
        </p:nvSpPr>
        <p:spPr>
          <a:xfrm>
            <a:off x="457200" y="1280160"/>
            <a:ext cx="1965960" cy="1188720"/>
          </a:xfrm>
          <a:prstGeom prst="roundRect">
            <a:avLst>
              <a:gd name="adj" fmla="val 9231"/>
            </a:avLst>
          </a:prstGeom>
          <a:solidFill>
            <a:srgbClr val="F3F7F8"/>
          </a:solidFill>
          <a:ln w="12700">
            <a:solidFill>
              <a:srgbClr val="F3F7F8"/>
            </a:solidFill>
            <a:prstDash val="solid"/>
          </a:ln>
        </p:spPr>
      </p:sp>
      <p:sp>
        <p:nvSpPr>
          <p:cNvPr id="5" name="Text 2"/>
          <p:cNvSpPr txBox="1"/>
          <p:nvPr/>
        </p:nvSpPr>
        <p:spPr>
          <a:xfrm>
            <a:off x="594360" y="1371600"/>
            <a:ext cx="169164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r = 0.01</a:t>
            </a:r>
            <a:endParaRPr lang="en-US" sz="3400" dirty="0"/>
          </a:p>
        </p:txBody>
      </p:sp>
      <p:sp>
        <p:nvSpPr>
          <p:cNvPr id="6" name="Text 3"/>
          <p:cNvSpPr txBox="1"/>
          <p:nvPr/>
        </p:nvSpPr>
        <p:spPr>
          <a:xfrm>
            <a:off x="594360" y="2011680"/>
            <a:ext cx="1691640" cy="384048"/>
          </a:xfrm>
          <a:prstGeom prst="rect">
            <a:avLst/>
          </a:prstGeom>
          <a:noFill/>
          <a:ln/>
        </p:spPr>
        <p:txBody>
          <a:bodyPr wrap="square" lIns="0" tIns="0" rIns="0" bIns="0" rtlCol="0" anchor="t"/>
          <a:lstStyle/>
          <a:p>
            <a:pPr marL="0" indent="0">
              <a:buNone/>
            </a:pPr>
            <a:r>
              <a:rPr lang="en-US" sz="1200" dirty="0">
                <a:solidFill>
                  <a:srgbClr val="1F2933"/>
                </a:solidFill>
              </a:rPr>
              <a:t>age vs billing</a:t>
            </a:r>
            <a:endParaRPr lang="en-US" sz="1200" dirty="0"/>
          </a:p>
        </p:txBody>
      </p:sp>
      <p:sp>
        <p:nvSpPr>
          <p:cNvPr id="7" name="Shape 4"/>
          <p:cNvSpPr/>
          <p:nvPr/>
        </p:nvSpPr>
        <p:spPr>
          <a:xfrm>
            <a:off x="2542032" y="1280160"/>
            <a:ext cx="1965960" cy="1188720"/>
          </a:xfrm>
          <a:prstGeom prst="roundRect">
            <a:avLst>
              <a:gd name="adj" fmla="val 9231"/>
            </a:avLst>
          </a:prstGeom>
          <a:solidFill>
            <a:srgbClr val="F3F7F8"/>
          </a:solidFill>
          <a:ln w="12700">
            <a:solidFill>
              <a:srgbClr val="F3F7F8"/>
            </a:solidFill>
            <a:prstDash val="solid"/>
          </a:ln>
        </p:spPr>
      </p:sp>
      <p:sp>
        <p:nvSpPr>
          <p:cNvPr id="8" name="Text 5"/>
          <p:cNvSpPr txBox="1"/>
          <p:nvPr/>
        </p:nvSpPr>
        <p:spPr>
          <a:xfrm>
            <a:off x="2679192" y="1371600"/>
            <a:ext cx="169164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r = 0.00</a:t>
            </a:r>
            <a:endParaRPr lang="en-US" sz="3400" dirty="0"/>
          </a:p>
        </p:txBody>
      </p:sp>
      <p:sp>
        <p:nvSpPr>
          <p:cNvPr id="9" name="Text 6"/>
          <p:cNvSpPr txBox="1"/>
          <p:nvPr/>
        </p:nvSpPr>
        <p:spPr>
          <a:xfrm>
            <a:off x="2679192" y="2011680"/>
            <a:ext cx="1691640" cy="384048"/>
          </a:xfrm>
          <a:prstGeom prst="rect">
            <a:avLst/>
          </a:prstGeom>
          <a:noFill/>
          <a:ln/>
        </p:spPr>
        <p:txBody>
          <a:bodyPr wrap="square" lIns="0" tIns="0" rIns="0" bIns="0" rtlCol="0" anchor="t"/>
          <a:lstStyle/>
          <a:p>
            <a:pPr marL="0" indent="0">
              <a:buNone/>
            </a:pPr>
            <a:r>
              <a:rPr lang="en-US" sz="1200" dirty="0">
                <a:solidFill>
                  <a:srgbClr val="1F2933"/>
                </a:solidFill>
              </a:rPr>
              <a:t>length of stay vs billing</a:t>
            </a:r>
            <a:endParaRPr lang="en-US" sz="1200" dirty="0"/>
          </a:p>
        </p:txBody>
      </p:sp>
      <p:sp>
        <p:nvSpPr>
          <p:cNvPr id="10" name="Shape 7"/>
          <p:cNvSpPr/>
          <p:nvPr/>
        </p:nvSpPr>
        <p:spPr>
          <a:xfrm>
            <a:off x="4626864" y="1280160"/>
            <a:ext cx="1965960" cy="1188720"/>
          </a:xfrm>
          <a:prstGeom prst="roundRect">
            <a:avLst>
              <a:gd name="adj" fmla="val 9231"/>
            </a:avLst>
          </a:prstGeom>
          <a:solidFill>
            <a:srgbClr val="F3F7F8"/>
          </a:solidFill>
          <a:ln w="12700">
            <a:solidFill>
              <a:srgbClr val="F3F7F8"/>
            </a:solidFill>
            <a:prstDash val="solid"/>
          </a:ln>
        </p:spPr>
      </p:sp>
      <p:sp>
        <p:nvSpPr>
          <p:cNvPr id="11" name="Text 8"/>
          <p:cNvSpPr txBox="1"/>
          <p:nvPr/>
        </p:nvSpPr>
        <p:spPr>
          <a:xfrm>
            <a:off x="4764024" y="1371600"/>
            <a:ext cx="1691640" cy="640080"/>
          </a:xfrm>
          <a:prstGeom prst="rect">
            <a:avLst/>
          </a:prstGeom>
          <a:noFill/>
          <a:ln/>
        </p:spPr>
        <p:txBody>
          <a:bodyPr wrap="square" lIns="0" tIns="0" rIns="0" bIns="0" rtlCol="0" anchor="ctr"/>
          <a:lstStyle/>
          <a:p>
            <a:pPr marL="0" indent="0">
              <a:buNone/>
            </a:pPr>
            <a:r>
              <a:rPr lang="en-US" sz="2000" b="1" dirty="0">
                <a:solidFill>
                  <a:srgbClr val="1B7F8C"/>
                </a:solidFill>
                <a:latin typeface="Cambria" pitchFamily="34" charset="0"/>
                <a:ea typeface="Cambria" pitchFamily="34" charset="-122"/>
                <a:cs typeface="Cambria" pitchFamily="34" charset="-120"/>
              </a:rPr>
              <a:t>$23.3K vs $23.4K</a:t>
            </a:r>
            <a:endParaRPr lang="en-US" sz="2000" dirty="0"/>
          </a:p>
        </p:txBody>
      </p:sp>
      <p:sp>
        <p:nvSpPr>
          <p:cNvPr id="12" name="Text 9"/>
          <p:cNvSpPr txBox="1"/>
          <p:nvPr/>
        </p:nvSpPr>
        <p:spPr>
          <a:xfrm>
            <a:off x="4764024" y="2011680"/>
            <a:ext cx="1691640" cy="384048"/>
          </a:xfrm>
          <a:prstGeom prst="rect">
            <a:avLst/>
          </a:prstGeom>
          <a:noFill/>
          <a:ln/>
        </p:spPr>
        <p:txBody>
          <a:bodyPr wrap="square" lIns="0" tIns="0" rIns="0" bIns="0" rtlCol="0" anchor="t"/>
          <a:lstStyle/>
          <a:p>
            <a:pPr marL="0" indent="0">
              <a:buNone/>
            </a:pPr>
            <a:r>
              <a:rPr lang="en-US" sz="1200" dirty="0">
                <a:solidFill>
                  <a:srgbClr val="1F2933"/>
                </a:solidFill>
              </a:rPr>
              <a:t>female vs male average bill</a:t>
            </a:r>
            <a:endParaRPr lang="en-US" sz="1200" dirty="0"/>
          </a:p>
        </p:txBody>
      </p:sp>
      <p:sp>
        <p:nvSpPr>
          <p:cNvPr id="13" name="Shape 10"/>
          <p:cNvSpPr/>
          <p:nvPr/>
        </p:nvSpPr>
        <p:spPr>
          <a:xfrm>
            <a:off x="6711696" y="1280160"/>
            <a:ext cx="1965960" cy="1188720"/>
          </a:xfrm>
          <a:prstGeom prst="roundRect">
            <a:avLst>
              <a:gd name="adj" fmla="val 9231"/>
            </a:avLst>
          </a:prstGeom>
          <a:solidFill>
            <a:srgbClr val="F3F7F8"/>
          </a:solidFill>
          <a:ln w="12700">
            <a:solidFill>
              <a:srgbClr val="F3F7F8"/>
            </a:solidFill>
            <a:prstDash val="solid"/>
          </a:ln>
        </p:spPr>
      </p:sp>
      <p:sp>
        <p:nvSpPr>
          <p:cNvPr id="14" name="Text 11"/>
          <p:cNvSpPr txBox="1"/>
          <p:nvPr/>
        </p:nvSpPr>
        <p:spPr>
          <a:xfrm>
            <a:off x="6848856" y="1371600"/>
            <a:ext cx="1691640" cy="640080"/>
          </a:xfrm>
          <a:prstGeom prst="rect">
            <a:avLst/>
          </a:prstGeom>
          <a:noFill/>
          <a:ln/>
        </p:spPr>
        <p:txBody>
          <a:bodyPr wrap="square" lIns="0" tIns="0" rIns="0" bIns="0" rtlCol="0" anchor="ctr"/>
          <a:lstStyle/>
          <a:p>
            <a:pPr marL="0" indent="0">
              <a:buNone/>
            </a:pPr>
            <a:r>
              <a:rPr lang="en-US" sz="3400" b="1" dirty="0">
                <a:solidFill>
                  <a:srgbClr val="1B7F8C"/>
                </a:solidFill>
                <a:latin typeface="Cambria" pitchFamily="34" charset="0"/>
                <a:ea typeface="Cambria" pitchFamily="34" charset="-122"/>
                <a:cs typeface="Cambria" pitchFamily="34" charset="-120"/>
              </a:rPr>
              <a:t>p = 0.66</a:t>
            </a:r>
            <a:endParaRPr lang="en-US" sz="3400" dirty="0"/>
          </a:p>
        </p:txBody>
      </p:sp>
      <p:sp>
        <p:nvSpPr>
          <p:cNvPr id="15" name="Text 12"/>
          <p:cNvSpPr txBox="1"/>
          <p:nvPr/>
        </p:nvSpPr>
        <p:spPr>
          <a:xfrm>
            <a:off x="6848856" y="2011680"/>
            <a:ext cx="1691640" cy="384048"/>
          </a:xfrm>
          <a:prstGeom prst="rect">
            <a:avLst/>
          </a:prstGeom>
          <a:noFill/>
          <a:ln/>
        </p:spPr>
        <p:txBody>
          <a:bodyPr wrap="square" lIns="0" tIns="0" rIns="0" bIns="0" rtlCol="0" anchor="t"/>
          <a:lstStyle/>
          <a:p>
            <a:pPr marL="0" indent="0">
              <a:buNone/>
            </a:pPr>
            <a:r>
              <a:rPr lang="en-US" sz="1200" dirty="0">
                <a:solidFill>
                  <a:srgbClr val="1F2933"/>
                </a:solidFill>
              </a:rPr>
              <a:t>test results are independent of condition</a:t>
            </a:r>
            <a:endParaRPr lang="en-US" sz="1200" dirty="0"/>
          </a:p>
        </p:txBody>
      </p:sp>
      <p:graphicFrame>
        <p:nvGraphicFramePr>
          <p:cNvPr id="16" name="Chart 0"/>
          <p:cNvGraphicFramePr/>
          <p:nvPr>
            <p:extLst>
              <p:ext uri="{D42A27DB-BD31-4B8C-83A1-F6EECF244321}">
                <p14:modId xmlns:p14="http://schemas.microsoft.com/office/powerpoint/2010/main" val="3510311391"/>
              </p:ext>
            </p:extLst>
          </p:nvPr>
        </p:nvGraphicFramePr>
        <p:xfrm>
          <a:off x="457200" y="2743200"/>
          <a:ext cx="475488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3"/>
          <p:cNvSpPr txBox="1"/>
          <p:nvPr/>
        </p:nvSpPr>
        <p:spPr>
          <a:xfrm>
            <a:off x="5486400" y="3017520"/>
            <a:ext cx="3200400" cy="1280160"/>
          </a:xfrm>
          <a:prstGeom prst="rect">
            <a:avLst/>
          </a:prstGeom>
          <a:noFill/>
          <a:ln/>
        </p:spPr>
        <p:txBody>
          <a:bodyPr wrap="square" lIns="0" tIns="0" rIns="0" bIns="0" rtlCol="0" anchor="t"/>
          <a:lstStyle/>
          <a:p>
            <a:pPr marL="0" indent="0">
              <a:buNone/>
            </a:pPr>
            <a:r>
              <a:rPr lang="en-US" sz="1400" dirty="0">
                <a:solidFill>
                  <a:srgbClr val="1F2933"/>
                </a:solidFill>
              </a:rPr>
              <a:t>Billing is flat across age groups: a senior admission costs about $470 more than a young one (2%).</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822960"/>
          </a:xfrm>
          <a:prstGeom prst="rect">
            <a:avLst/>
          </a:prstGeom>
          <a:noFill/>
          <a:ln/>
        </p:spPr>
        <p:txBody>
          <a:bodyPr wrap="square" lIns="0" tIns="0" rIns="0" bIns="0" rtlCol="0" anchor="t"/>
          <a:lstStyle/>
          <a:p>
            <a:pPr marL="0" indent="0" algn="l">
              <a:buNone/>
            </a:pPr>
            <a:r>
              <a:rPr lang="en-US" sz="2600" b="1" dirty="0">
                <a:solidFill>
                  <a:srgbClr val="0B3C49"/>
                </a:solidFill>
                <a:latin typeface="Cambria" pitchFamily="34" charset="0"/>
                <a:ea typeface="Cambria" pitchFamily="34" charset="-122"/>
                <a:cs typeface="Cambria" pitchFamily="34" charset="-120"/>
              </a:rPr>
              <a:t>Recommendations: pick insurers by condition; plan beds around unplanned demand</a:t>
            </a:r>
            <a:endParaRPr lang="en-US" sz="2600" dirty="0"/>
          </a:p>
        </p:txBody>
      </p:sp>
      <p:sp>
        <p:nvSpPr>
          <p:cNvPr id="4" name="Shape 1"/>
          <p:cNvSpPr/>
          <p:nvPr/>
        </p:nvSpPr>
        <p:spPr>
          <a:xfrm>
            <a:off x="457200" y="1234440"/>
            <a:ext cx="4023360" cy="3108960"/>
          </a:xfrm>
          <a:prstGeom prst="roundRect">
            <a:avLst>
              <a:gd name="adj" fmla="val 3529"/>
            </a:avLst>
          </a:prstGeom>
          <a:solidFill>
            <a:srgbClr val="F3F7F8"/>
          </a:solidFill>
          <a:ln w="19050">
            <a:solidFill>
              <a:schemeClr val="tx2"/>
            </a:solidFill>
            <a:prstDash val="solid"/>
          </a:ln>
        </p:spPr>
      </p:sp>
      <p:sp>
        <p:nvSpPr>
          <p:cNvPr id="5" name="Shape 2"/>
          <p:cNvSpPr/>
          <p:nvPr/>
        </p:nvSpPr>
        <p:spPr>
          <a:xfrm>
            <a:off x="4663440" y="1234440"/>
            <a:ext cx="4023360" cy="3108960"/>
          </a:xfrm>
          <a:prstGeom prst="roundRect">
            <a:avLst>
              <a:gd name="adj" fmla="val 3529"/>
            </a:avLst>
          </a:prstGeom>
          <a:solidFill>
            <a:srgbClr val="F3F7F8"/>
          </a:solidFill>
          <a:ln w="19050">
            <a:solidFill>
              <a:schemeClr val="tx2"/>
            </a:solidFill>
            <a:prstDash val="solid"/>
          </a:ln>
        </p:spPr>
      </p:sp>
      <p:sp>
        <p:nvSpPr>
          <p:cNvPr id="6" name="Text 3"/>
          <p:cNvSpPr txBox="1"/>
          <p:nvPr/>
        </p:nvSpPr>
        <p:spPr>
          <a:xfrm>
            <a:off x="640080" y="1371600"/>
            <a:ext cx="3657600" cy="365760"/>
          </a:xfrm>
          <a:prstGeom prst="rect">
            <a:avLst/>
          </a:prstGeom>
          <a:noFill/>
          <a:ln/>
        </p:spPr>
        <p:txBody>
          <a:bodyPr wrap="square" lIns="0" tIns="0" rIns="0" bIns="0" rtlCol="0" anchor="ctr"/>
          <a:lstStyle/>
          <a:p>
            <a:pPr marL="0" indent="0">
              <a:buNone/>
            </a:pPr>
            <a:r>
              <a:rPr lang="en-US" sz="1600" b="1" dirty="0">
                <a:solidFill>
                  <a:srgbClr val="0B3C49"/>
                </a:solidFill>
              </a:rPr>
              <a:t>For patients choosing insurance</a:t>
            </a:r>
            <a:endParaRPr lang="en-US" sz="1600" dirty="0"/>
          </a:p>
        </p:txBody>
      </p:sp>
      <p:sp>
        <p:nvSpPr>
          <p:cNvPr id="7" name="Text 4"/>
          <p:cNvSpPr txBox="1"/>
          <p:nvPr/>
        </p:nvSpPr>
        <p:spPr>
          <a:xfrm>
            <a:off x="640080" y="178308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3"/>
                </a:solidFill>
              </a:rPr>
              <a:t>Compare insurers on your own condition, not the overall average (only 6% apart).</a:t>
            </a:r>
            <a:endParaRPr lang="en-US" sz="1300" dirty="0"/>
          </a:p>
          <a:p>
            <a:pPr marL="342900" indent="-342900">
              <a:spcAft>
                <a:spcPts val="800"/>
              </a:spcAft>
              <a:buSzPct val="100000"/>
              <a:buChar char="•"/>
            </a:pPr>
            <a:r>
              <a:rPr lang="en-US" sz="1300" dirty="0">
                <a:solidFill>
                  <a:srgbClr val="1F2933"/>
                </a:solidFill>
              </a:rPr>
              <a:t>Cancer: Medicare shows the lowest billed average ($36.1K) vs Cigna ($43.1K).</a:t>
            </a:r>
            <a:endParaRPr lang="en-US" sz="1300" dirty="0"/>
          </a:p>
          <a:p>
            <a:pPr marL="342900" indent="-342900">
              <a:spcAft>
                <a:spcPts val="800"/>
              </a:spcAft>
              <a:buSzPct val="100000"/>
              <a:buChar char="•"/>
            </a:pPr>
            <a:r>
              <a:rPr lang="en-US" sz="1300" dirty="0">
                <a:solidFill>
                  <a:srgbClr val="1F2933"/>
                </a:solidFill>
              </a:rPr>
              <a:t>Diabetes: UnitedHealthcare is lowest ($24.8K) vs Blue Cross ($32.2K).</a:t>
            </a:r>
            <a:endParaRPr lang="en-US" sz="1300" dirty="0"/>
          </a:p>
          <a:p>
            <a:pPr marL="342900" indent="-342900">
              <a:buSzPct val="100000"/>
              <a:buChar char="•"/>
            </a:pPr>
            <a:r>
              <a:rPr lang="en-US" sz="1300" dirty="0">
                <a:solidFill>
                  <a:srgbClr val="1F2933"/>
                </a:solidFill>
              </a:rPr>
              <a:t>Age and gender should not drive the choice; condition risk should.</a:t>
            </a:r>
            <a:endParaRPr lang="en-US" sz="1300" dirty="0"/>
          </a:p>
        </p:txBody>
      </p:sp>
      <p:sp>
        <p:nvSpPr>
          <p:cNvPr id="8" name="Text 5"/>
          <p:cNvSpPr txBox="1"/>
          <p:nvPr/>
        </p:nvSpPr>
        <p:spPr>
          <a:xfrm>
            <a:off x="4846320" y="1371600"/>
            <a:ext cx="3657600" cy="365760"/>
          </a:xfrm>
          <a:prstGeom prst="rect">
            <a:avLst/>
          </a:prstGeom>
          <a:noFill/>
          <a:ln/>
        </p:spPr>
        <p:txBody>
          <a:bodyPr wrap="square" lIns="0" tIns="0" rIns="0" bIns="0" rtlCol="0" anchor="ctr"/>
          <a:lstStyle/>
          <a:p>
            <a:pPr marL="0" indent="0">
              <a:buNone/>
            </a:pPr>
            <a:r>
              <a:rPr lang="en-US" sz="1600" b="1" dirty="0">
                <a:solidFill>
                  <a:srgbClr val="0B3C49"/>
                </a:solidFill>
              </a:rPr>
              <a:t>For hospital planning</a:t>
            </a:r>
            <a:endParaRPr lang="en-US" sz="1600" dirty="0"/>
          </a:p>
        </p:txBody>
      </p:sp>
      <p:sp>
        <p:nvSpPr>
          <p:cNvPr id="9" name="Text 6"/>
          <p:cNvSpPr txBox="1"/>
          <p:nvPr/>
        </p:nvSpPr>
        <p:spPr>
          <a:xfrm>
            <a:off x="4846320" y="178308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3"/>
                </a:solidFill>
              </a:rPr>
              <a:t>69% of admissions are emergency/urgent but use 78% of bed-days (about 15.5 days each).</a:t>
            </a:r>
            <a:endParaRPr lang="en-US" sz="1300" dirty="0"/>
          </a:p>
          <a:p>
            <a:pPr marL="342900" indent="-342900">
              <a:spcAft>
                <a:spcPts val="800"/>
              </a:spcAft>
              <a:buSzPct val="100000"/>
              <a:buChar char="•"/>
            </a:pPr>
            <a:r>
              <a:rPr lang="en-US" sz="1300" dirty="0">
                <a:solidFill>
                  <a:srgbClr val="1F2933"/>
                </a:solidFill>
              </a:rPr>
              <a:t>Reserve flexible beds for diabetes, hypertension and asthma, which are 80-90% unplanned.</a:t>
            </a:r>
            <a:endParaRPr lang="en-US" sz="1300" dirty="0"/>
          </a:p>
          <a:p>
            <a:pPr marL="342900" indent="-342900">
              <a:spcAft>
                <a:spcPts val="800"/>
              </a:spcAft>
              <a:buSzPct val="100000"/>
              <a:buChar char="•"/>
            </a:pPr>
            <a:r>
              <a:rPr lang="en-US" sz="1300" dirty="0">
                <a:solidFill>
                  <a:srgbClr val="1F2933"/>
                </a:solidFill>
              </a:rPr>
              <a:t>Schedule arthritis and obesity electives to smooth load: short stays, planned.</a:t>
            </a:r>
            <a:endParaRPr lang="en-US" sz="1300" dirty="0"/>
          </a:p>
          <a:p>
            <a:pPr marL="342900" indent="-342900">
              <a:buSzPct val="100000"/>
              <a:buChar char="•"/>
            </a:pPr>
            <a:r>
              <a:rPr lang="en-US" sz="1300" dirty="0">
                <a:solidFill>
                  <a:srgbClr val="1F2933"/>
                </a:solidFill>
              </a:rPr>
              <a:t>Prioritise oncology pricing and cost control: highest billing per case.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6"/>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188720"/>
            <a:ext cx="7863840" cy="155448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Limits of this data and next steps</a:t>
            </a:r>
            <a:endParaRPr lang="en-US" sz="3800" dirty="0"/>
          </a:p>
        </p:txBody>
      </p:sp>
      <p:sp>
        <p:nvSpPr>
          <p:cNvPr id="3" name="Text 0"/>
          <p:cNvSpPr>
            <a:spLocks noGrp="1"/>
          </p:cNvSpPr>
          <p:nvPr>
            <p:ph type="body" idx="101" hasCustomPrompt="1"/>
          </p:nvPr>
        </p:nvSpPr>
        <p:spPr>
          <a:xfrm>
            <a:off x="640080" y="3246120"/>
            <a:ext cx="786384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8FD3C8"/>
                </a:solidFill>
                <a:latin typeface="Calibri" pitchFamily="34" charset="0"/>
                <a:ea typeface="Calibri" pitchFamily="34" charset="-122"/>
                <a:cs typeface="Calibri" pitchFamily="34" charset="-120"/>
              </a:rPr>
              <a:t>Billing is the amount billed, not what patients paid or insurers reimbursed.</a:t>
            </a:r>
            <a:endParaRPr lang="en-US" sz="1400" dirty="0"/>
          </a:p>
          <a:p>
            <a:pPr marL="342900" indent="-342900">
              <a:spcAft>
                <a:spcPts val="600"/>
              </a:spcAft>
              <a:buSzPct val="100000"/>
              <a:buChar char="•"/>
            </a:pPr>
            <a:r>
              <a:rPr lang="en-US" sz="1400" dirty="0">
                <a:solidFill>
                  <a:srgbClr val="8FD3C8"/>
                </a:solidFill>
                <a:latin typeface="Calibri" pitchFamily="34" charset="0"/>
                <a:ea typeface="Calibri" pitchFamily="34" charset="-122"/>
                <a:cs typeface="Calibri" pitchFamily="34" charset="-120"/>
              </a:rPr>
              <a:t>Gender, blood type and test results are almost perfectly even, so the data may be synthetic or heavily balanced: validate on real claims before acting.</a:t>
            </a:r>
            <a:endParaRPr lang="en-US" sz="1400" dirty="0"/>
          </a:p>
          <a:p>
            <a:pPr marL="342900" indent="-342900">
              <a:spcAft>
                <a:spcPts val="600"/>
              </a:spcAft>
              <a:buSzPct val="100000"/>
              <a:buChar char="•"/>
            </a:pPr>
            <a:r>
              <a:rPr lang="en-US" sz="1400" dirty="0">
                <a:solidFill>
                  <a:srgbClr val="8FD3C8"/>
                </a:solidFill>
                <a:latin typeface="Calibri" pitchFamily="34" charset="0"/>
                <a:ea typeface="Calibri" pitchFamily="34" charset="-122"/>
                <a:cs typeface="Calibri" pitchFamily="34" charset="-120"/>
              </a:rPr>
              <a:t>No outcome measures (readmission, mortality) beyond test results.</a:t>
            </a:r>
            <a:endParaRPr lang="en-US" sz="1400" dirty="0"/>
          </a:p>
          <a:p>
            <a:pPr marL="342900" indent="-342900">
              <a:buSzPct val="100000"/>
              <a:buChar char="•"/>
            </a:pPr>
            <a:r>
              <a:rPr lang="en-US" sz="1400" dirty="0">
                <a:solidFill>
                  <a:srgbClr val="8FD3C8"/>
                </a:solidFill>
                <a:latin typeface="Calibri" pitchFamily="34" charset="0"/>
                <a:ea typeface="Calibri" pitchFamily="34" charset="-122"/>
                <a:cs typeface="Calibri" pitchFamily="34" charset="-120"/>
              </a:rPr>
              <a:t>Next: add outcomes, cost per day by hospital, and a model that controls for condition and admission type together.</a:t>
            </a:r>
            <a:endParaRPr lang="en-US" sz="1400" dirty="0"/>
          </a:p>
        </p:txBody>
      </p:sp>
    </p:spTree>
  </p:cSld>
  <p:clrMapOvr>
    <a:masterClrMapping/>
  </p:clrMapOvr>
</p:sld>
</file>

<file path=ppt/theme/theme1.xml><?xml version="1.0" encoding="utf-8"?>
<a:theme xmlns:a="http://schemas.openxmlformats.org/drawingml/2006/main" name="Healthcare">
  <a:themeElements>
    <a:clrScheme name="Healthcare">
      <a:dk1>
        <a:srgbClr val="1F2933"/>
      </a:dk1>
      <a:lt1>
        <a:srgbClr val="FFFFFF"/>
      </a:lt1>
      <a:dk2>
        <a:srgbClr val="0B3C49"/>
      </a:dk2>
      <a:lt2>
        <a:srgbClr val="F3F7F8"/>
      </a:lt2>
      <a:accent1>
        <a:srgbClr val="1B7F8C"/>
      </a:accent1>
      <a:accent2>
        <a:srgbClr val="E4572E"/>
      </a:accent2>
      <a:accent3>
        <a:srgbClr val="F2B134"/>
      </a:accent3>
      <a:accent4>
        <a:srgbClr val="8FD3C8"/>
      </a:accent4>
      <a:accent5>
        <a:srgbClr val="5B6B76"/>
      </a:accent5>
      <a:accent6>
        <a:srgbClr val="0B3C49"/>
      </a:accent6>
      <a:hlink>
        <a:srgbClr val="1B7F8C"/>
      </a:hlink>
      <a:folHlink>
        <a:srgbClr val="5B6B76"/>
      </a:folHlink>
    </a:clrScheme>
    <a:fontScheme name="Healthca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1792</Words>
  <Application>Microsoft Office PowerPoint</Application>
  <PresentationFormat>On-screen Show (16:9)</PresentationFormat>
  <Paragraphs>176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Healthcare</vt:lpstr>
      <vt:lpstr>What drives hospital cost? Conditions, admission type and demographics</vt:lpstr>
      <vt:lpstr>Condition and admission type drive cost and bed use; age and gender barely matter</vt:lpstr>
      <vt:lpstr>Below is the major data cleaning steps.</vt:lpstr>
      <vt:lpstr>Hypertension is the largest group; patients are balanced by gender and weighted to over-35s</vt:lpstr>
      <vt:lpstr>Young patients skew to asthma; older patients skew to arthritis and cancer</vt:lpstr>
      <vt:lpstr>Arthritis and obesity are mostly planned; diabetes, hypertension and asthma arrive unplanned</vt:lpstr>
      <vt:lpstr>Condition is the biggest cost driver: cancer bills 3.2x obesity</vt:lpstr>
      <vt:lpstr>Elective stays are 5 days shorter, yet cost almost the same as unplanned ones</vt:lpstr>
      <vt:lpstr>Insurers differ by only about 6% overall, so compare them by condition</vt:lpstr>
      <vt:lpstr>By condition the gaps widen: cancer varies 19% and diabetes 29% across insurers</vt:lpstr>
      <vt:lpstr>What does not matter: age, gender, length of stay and test results</vt:lpstr>
      <vt:lpstr>Recommendations: pick insurers by condition; plan beds around unplanned demand</vt:lpstr>
      <vt:lpstr>Limits of this data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Cost &amp; Admissions Analysis</dc:title>
  <dc:subject>PptxGenJS Presentation</dc:subject>
  <dc:creator>Shakeel Nawaz Khan</dc:creator>
  <cp:lastModifiedBy>Shakil khan</cp:lastModifiedBy>
  <cp:revision>2</cp:revision>
  <dcterms:created xsi:type="dcterms:W3CDTF">2026-10-08T10:38:50Z</dcterms:created>
  <dcterms:modified xsi:type="dcterms:W3CDTF">2026-10-08T11:46:57Z</dcterms:modified>
</cp:coreProperties>
</file>